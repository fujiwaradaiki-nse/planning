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91" r:id="rId2"/>
    <p:sldId id="308" r:id="rId3"/>
    <p:sldId id="310" r:id="rId4"/>
  </p:sldIdLst>
  <p:sldSz cx="12192000" cy="6858000"/>
  <p:notesSz cx="7099300" cy="10234613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E8D8"/>
    <a:srgbClr val="CCFFCC"/>
    <a:srgbClr val="66CCFF"/>
    <a:srgbClr val="FFCCCC"/>
    <a:srgbClr val="FF0000"/>
    <a:srgbClr val="3333FF"/>
    <a:srgbClr val="FF66FF"/>
    <a:srgbClr val="BBE0E3"/>
    <a:srgbClr val="FFFFCC"/>
    <a:srgbClr val="CDC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442" autoAdjust="0"/>
    <p:restoredTop sz="96058" autoAdjust="0"/>
  </p:normalViewPr>
  <p:slideViewPr>
    <p:cSldViewPr snapToGrid="0">
      <p:cViewPr varScale="1">
        <p:scale>
          <a:sx n="151" d="100"/>
          <a:sy n="151" d="100"/>
        </p:scale>
        <p:origin x="978" y="3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41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143" cy="513284"/>
          </a:xfrm>
          <a:prstGeom prst="rect">
            <a:avLst/>
          </a:prstGeom>
        </p:spPr>
        <p:txBody>
          <a:bodyPr vert="horz" lIns="94640" tIns="47320" rIns="94640" bIns="473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1503" y="0"/>
            <a:ext cx="3076143" cy="513284"/>
          </a:xfrm>
          <a:prstGeom prst="rect">
            <a:avLst/>
          </a:prstGeom>
        </p:spPr>
        <p:txBody>
          <a:bodyPr vert="horz" lIns="94640" tIns="47320" rIns="94640" bIns="47320" rtlCol="0"/>
          <a:lstStyle>
            <a:lvl1pPr algn="r">
              <a:defRPr sz="1200"/>
            </a:lvl1pPr>
          </a:lstStyle>
          <a:p>
            <a:fld id="{8D535FAC-2DDD-4717-AE51-CAF2E2CF46AD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40" tIns="47320" rIns="94640" bIns="473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10262" y="4925235"/>
            <a:ext cx="5678778" cy="4029439"/>
          </a:xfrm>
          <a:prstGeom prst="rect">
            <a:avLst/>
          </a:prstGeom>
        </p:spPr>
        <p:txBody>
          <a:bodyPr vert="horz" lIns="94640" tIns="47320" rIns="94640" bIns="473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721330"/>
            <a:ext cx="3076143" cy="513284"/>
          </a:xfrm>
          <a:prstGeom prst="rect">
            <a:avLst/>
          </a:prstGeom>
        </p:spPr>
        <p:txBody>
          <a:bodyPr vert="horz" lIns="94640" tIns="47320" rIns="94640" bIns="473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1503" y="9721330"/>
            <a:ext cx="3076143" cy="513284"/>
          </a:xfrm>
          <a:prstGeom prst="rect">
            <a:avLst/>
          </a:prstGeom>
        </p:spPr>
        <p:txBody>
          <a:bodyPr vert="horz" lIns="94640" tIns="47320" rIns="94640" bIns="47320" rtlCol="0" anchor="b"/>
          <a:lstStyle>
            <a:lvl1pPr algn="r">
              <a:defRPr sz="1200"/>
            </a:lvl1pPr>
          </a:lstStyle>
          <a:p>
            <a:fld id="{B7BDDF29-0D52-4D75-A5A0-85CF798E4B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2594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3" descr="power_blue_h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81"/>
          <a:stretch>
            <a:fillRect/>
          </a:stretch>
        </p:blipFill>
        <p:spPr bwMode="auto">
          <a:xfrm>
            <a:off x="0" y="-1588"/>
            <a:ext cx="12192000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47"/>
          <p:cNvSpPr>
            <a:spLocks noChangeShapeType="1"/>
          </p:cNvSpPr>
          <p:nvPr/>
        </p:nvSpPr>
        <p:spPr bwMode="auto">
          <a:xfrm>
            <a:off x="2734733" y="665163"/>
            <a:ext cx="9457267" cy="0"/>
          </a:xfrm>
          <a:prstGeom prst="line">
            <a:avLst/>
          </a:prstGeom>
          <a:noFill/>
          <a:ln w="158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 sz="1800"/>
          </a:p>
        </p:txBody>
      </p:sp>
      <p:pic>
        <p:nvPicPr>
          <p:cNvPr id="6" name="Picture 48" descr="white_messaag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7702" y="447675"/>
            <a:ext cx="1242060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Line 54"/>
          <p:cNvSpPr>
            <a:spLocks noChangeShapeType="1"/>
          </p:cNvSpPr>
          <p:nvPr/>
        </p:nvSpPr>
        <p:spPr bwMode="auto">
          <a:xfrm>
            <a:off x="2734733" y="6308725"/>
            <a:ext cx="9457267" cy="0"/>
          </a:xfrm>
          <a:prstGeom prst="line">
            <a:avLst/>
          </a:prstGeom>
          <a:noFill/>
          <a:ln w="15875">
            <a:solidFill>
              <a:srgbClr val="00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 sz="1800"/>
          </a:p>
        </p:txBody>
      </p:sp>
      <p:sp>
        <p:nvSpPr>
          <p:cNvPr id="8" name="Rectangle 55"/>
          <p:cNvSpPr>
            <a:spLocks noChangeArrowheads="1"/>
          </p:cNvSpPr>
          <p:nvPr/>
        </p:nvSpPr>
        <p:spPr bwMode="auto">
          <a:xfrm>
            <a:off x="10003698" y="6341805"/>
            <a:ext cx="1957587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algn="r" eaLnBrk="1" hangingPunct="1">
              <a:defRPr/>
            </a:pPr>
            <a:r>
              <a:rPr lang="en-US" altLang="ja-JP" sz="600" dirty="0">
                <a:solidFill>
                  <a:schemeClr val="bg1"/>
                </a:solidFill>
              </a:rPr>
              <a:t>©2024 NIPPON STEEL ENGINEERING CO., LTD.</a:t>
            </a:r>
          </a:p>
        </p:txBody>
      </p:sp>
      <p:pic>
        <p:nvPicPr>
          <p:cNvPr id="9" name="図 13"/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4744" y="6391276"/>
            <a:ext cx="2015934" cy="137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図 14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744" y="260350"/>
            <a:ext cx="1039141" cy="154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34734" y="2803526"/>
            <a:ext cx="9021233" cy="1179513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734734" y="4286251"/>
            <a:ext cx="9023351" cy="1223963"/>
          </a:xfrm>
        </p:spPr>
        <p:txBody>
          <a:bodyPr/>
          <a:lstStyle>
            <a:lvl1pPr marL="0" indent="0">
              <a:buFontTx/>
              <a:buNone/>
              <a:defRPr sz="2000"/>
            </a:lvl1pPr>
          </a:lstStyle>
          <a:p>
            <a:pPr lvl="0"/>
            <a:r>
              <a:rPr lang="ja-JP" altLang="en-US" noProof="0"/>
              <a:t>マスター サブタイトルの書式設定</a:t>
            </a:r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869361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777621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675890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1295401" y="1268413"/>
            <a:ext cx="5179484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678084" y="1268413"/>
            <a:ext cx="5179483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303158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166789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33125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0852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504809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ja-JP" altLang="en-US" noProof="0"/>
              <a:t>図を追加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022740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670933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9218084" y="115889"/>
            <a:ext cx="2639483" cy="567848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1295401" y="115889"/>
            <a:ext cx="7719484" cy="567848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19738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1" descr="power_blue_02_dark+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81"/>
          <a:stretch>
            <a:fillRect/>
          </a:stretch>
        </p:blipFill>
        <p:spPr bwMode="auto">
          <a:xfrm>
            <a:off x="0" y="0"/>
            <a:ext cx="12192000" cy="689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95401" y="115889"/>
            <a:ext cx="8640233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95401" y="1268413"/>
            <a:ext cx="10562167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9" name="Line 12"/>
          <p:cNvSpPr>
            <a:spLocks noChangeShapeType="1"/>
          </p:cNvSpPr>
          <p:nvPr/>
        </p:nvSpPr>
        <p:spPr bwMode="auto">
          <a:xfrm>
            <a:off x="1295400" y="6308725"/>
            <a:ext cx="10896600" cy="0"/>
          </a:xfrm>
          <a:prstGeom prst="line">
            <a:avLst/>
          </a:prstGeom>
          <a:noFill/>
          <a:ln w="1587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 sz="1800"/>
          </a:p>
        </p:txBody>
      </p:sp>
      <p:sp>
        <p:nvSpPr>
          <p:cNvPr id="1030" name="Line 15"/>
          <p:cNvSpPr>
            <a:spLocks noChangeShapeType="1"/>
          </p:cNvSpPr>
          <p:nvPr/>
        </p:nvSpPr>
        <p:spPr bwMode="auto">
          <a:xfrm>
            <a:off x="1295400" y="665163"/>
            <a:ext cx="10896600" cy="0"/>
          </a:xfrm>
          <a:prstGeom prst="line">
            <a:avLst/>
          </a:prstGeom>
          <a:noFill/>
          <a:ln w="158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 sz="1800"/>
          </a:p>
        </p:txBody>
      </p:sp>
      <p:sp>
        <p:nvSpPr>
          <p:cNvPr id="1031" name="Rectangle 17"/>
          <p:cNvSpPr>
            <a:spLocks noChangeArrowheads="1"/>
          </p:cNvSpPr>
          <p:nvPr/>
        </p:nvSpPr>
        <p:spPr bwMode="auto">
          <a:xfrm>
            <a:off x="10003698" y="6341805"/>
            <a:ext cx="1957587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algn="r" eaLnBrk="1" hangingPunct="1">
              <a:defRPr/>
            </a:pPr>
            <a:r>
              <a:rPr lang="en-US" altLang="ja-JP" sz="600" dirty="0"/>
              <a:t>©2024 NIPPON STEEL ENGINEERING CO., LTD.</a:t>
            </a:r>
          </a:p>
        </p:txBody>
      </p:sp>
      <p:pic>
        <p:nvPicPr>
          <p:cNvPr id="1032" name="図 1"/>
          <p:cNvPicPr>
            <a:picLocks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11" y="6396039"/>
            <a:ext cx="2015934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3378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000">
          <a:solidFill>
            <a:schemeClr val="tx2"/>
          </a:solidFill>
          <a:latin typeface="Arial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000">
          <a:solidFill>
            <a:schemeClr val="tx2"/>
          </a:solidFill>
          <a:latin typeface="Arial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000">
          <a:solidFill>
            <a:schemeClr val="tx2"/>
          </a:solidFill>
          <a:latin typeface="Arial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000">
          <a:solidFill>
            <a:schemeClr val="tx2"/>
          </a:solidFill>
          <a:latin typeface="Arial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2000">
          <a:solidFill>
            <a:schemeClr val="tx2"/>
          </a:solidFill>
          <a:latin typeface="Arial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2000">
          <a:solidFill>
            <a:schemeClr val="tx2"/>
          </a:solidFill>
          <a:latin typeface="Arial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2000">
          <a:solidFill>
            <a:schemeClr val="tx2"/>
          </a:solidFill>
          <a:latin typeface="Arial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2000">
          <a:solidFill>
            <a:schemeClr val="tx2"/>
          </a:solidFill>
          <a:latin typeface="Arial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wmf"/><Relationship Id="rId7" Type="http://schemas.openxmlformats.org/officeDocument/2006/relationships/image" Target="../media/image13.png"/><Relationship Id="rId12" Type="http://schemas.openxmlformats.org/officeDocument/2006/relationships/image" Target="../media/image18.wmf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wmf"/><Relationship Id="rId4" Type="http://schemas.openxmlformats.org/officeDocument/2006/relationships/image" Target="../media/image10.wmf"/><Relationship Id="rId9" Type="http://schemas.openxmlformats.org/officeDocument/2006/relationships/image" Target="../media/image15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wmf"/><Relationship Id="rId7" Type="http://schemas.openxmlformats.org/officeDocument/2006/relationships/image" Target="../media/image13.png"/><Relationship Id="rId12" Type="http://schemas.openxmlformats.org/officeDocument/2006/relationships/image" Target="../media/image18.wmf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wmf"/><Relationship Id="rId4" Type="http://schemas.openxmlformats.org/officeDocument/2006/relationships/image" Target="../media/image10.wmf"/><Relationship Id="rId9" Type="http://schemas.openxmlformats.org/officeDocument/2006/relationships/image" Target="../media/image1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517585" y="2427499"/>
            <a:ext cx="11234444" cy="1360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Arial" charset="0"/>
                <a:ea typeface="ＭＳ Ｐゴシック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Arial" charset="0"/>
                <a:ea typeface="ＭＳ Ｐゴシック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Arial" charset="0"/>
                <a:ea typeface="ＭＳ Ｐゴシック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Arial" charset="0"/>
                <a:ea typeface="ＭＳ Ｐゴシック" pitchFamily="50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Arial" charset="0"/>
                <a:ea typeface="ＭＳ Ｐゴシック" pitchFamily="50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Arial" charset="0"/>
                <a:ea typeface="ＭＳ Ｐゴシック" pitchFamily="50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Arial" charset="0"/>
                <a:ea typeface="ＭＳ Ｐゴシック" pitchFamily="50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algn="ctr"/>
            <a:r>
              <a:rPr lang="ja-JP" altLang="en-US" sz="4400" kern="0" dirty="0">
                <a:solidFill>
                  <a:schemeClr val="tx1"/>
                </a:solidFill>
              </a:rPr>
              <a:t>東総 </a:t>
            </a:r>
            <a:r>
              <a:rPr lang="en-US" altLang="ja-JP" sz="4400" kern="0" dirty="0">
                <a:solidFill>
                  <a:schemeClr val="tx1"/>
                </a:solidFill>
              </a:rPr>
              <a:t>Think Platform</a:t>
            </a:r>
            <a:r>
              <a:rPr lang="ja-JP" altLang="en-US" sz="4400" kern="0" dirty="0">
                <a:solidFill>
                  <a:schemeClr val="tx1"/>
                </a:solidFill>
              </a:rPr>
              <a:t>環境構築</a:t>
            </a:r>
            <a:endParaRPr lang="en-US" altLang="ja-JP" sz="4400" kern="0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845795" y="5567680"/>
            <a:ext cx="6346205" cy="711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FontTx/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1800" b="0" kern="0" dirty="0"/>
              <a:t>プラント</a:t>
            </a:r>
            <a:r>
              <a:rPr lang="ja-JP" altLang="en-US" sz="1800" kern="0" dirty="0"/>
              <a:t>本部　計画</a:t>
            </a:r>
            <a:r>
              <a:rPr lang="ja-JP" altLang="en-US" sz="1800" b="0" kern="0" dirty="0"/>
              <a:t>技術部</a:t>
            </a:r>
            <a:r>
              <a:rPr lang="ja-JP" altLang="en-US" sz="1800" kern="0" dirty="0"/>
              <a:t>　</a:t>
            </a:r>
            <a:r>
              <a:rPr lang="en-US" altLang="ja-JP" sz="1800" kern="0" dirty="0"/>
              <a:t>Think Plant</a:t>
            </a:r>
            <a:r>
              <a:rPr lang="ja-JP" altLang="en-US" sz="1800" kern="0" dirty="0"/>
              <a:t>推進室</a:t>
            </a:r>
            <a:endParaRPr lang="en-US" altLang="ja-JP" sz="1800" kern="0" dirty="0"/>
          </a:p>
          <a:p>
            <a:r>
              <a:rPr lang="en-US" altLang="ja-JP" sz="1800" b="0" kern="0" dirty="0"/>
              <a:t>DX</a:t>
            </a:r>
            <a:r>
              <a:rPr lang="ja-JP" altLang="en-US" sz="1800" b="0" kern="0" dirty="0"/>
              <a:t>センター　デジタル企画推進部　インテリジェント</a:t>
            </a:r>
            <a:r>
              <a:rPr lang="en-US" altLang="ja-JP" sz="1800" b="0" kern="0" dirty="0"/>
              <a:t>OT</a:t>
            </a:r>
            <a:r>
              <a:rPr lang="ja-JP" altLang="en-US" sz="1800" b="0" kern="0" dirty="0"/>
              <a:t>開発室</a:t>
            </a:r>
            <a:endParaRPr lang="ja-JP" altLang="ja-JP" sz="1800" b="0" kern="0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551741"/>
              </p:ext>
            </p:extLst>
          </p:nvPr>
        </p:nvGraphicFramePr>
        <p:xfrm>
          <a:off x="9748299" y="947931"/>
          <a:ext cx="2003730" cy="8229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58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4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354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</a:rPr>
                        <a:t>守秘区分</a:t>
                      </a:r>
                    </a:p>
                  </a:txBody>
                  <a:tcPr marL="91482" marR="91482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</a:rPr>
                        <a:t>秘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Ⅱ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2" marR="91482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54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開示範囲</a:t>
                      </a:r>
                    </a:p>
                  </a:txBody>
                  <a:tcPr marL="91482" marR="91482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関係者</a:t>
                      </a:r>
                    </a:p>
                  </a:txBody>
                  <a:tcPr marL="91482" marR="91482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354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指定期間</a:t>
                      </a:r>
                    </a:p>
                  </a:txBody>
                  <a:tcPr marL="91482" marR="91482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20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年間</a:t>
                      </a:r>
                    </a:p>
                  </a:txBody>
                  <a:tcPr marL="91482" marR="91482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01" y="240197"/>
            <a:ext cx="1123800" cy="179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290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96C0D-AE6B-27C4-1733-1BE7FFA7F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A34E57B-F74F-AE87-1412-B8A0DD9F955C}"/>
              </a:ext>
            </a:extLst>
          </p:cNvPr>
          <p:cNvSpPr txBox="1"/>
          <p:nvPr/>
        </p:nvSpPr>
        <p:spPr>
          <a:xfrm>
            <a:off x="1327150" y="196850"/>
            <a:ext cx="27158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2</a:t>
            </a:r>
            <a:r>
              <a:rPr kumimoji="1" lang="ja-JP" altLang="en-US" sz="2400" dirty="0"/>
              <a:t>月改造時点</a:t>
            </a:r>
            <a:r>
              <a:rPr kumimoji="1" lang="en-US" altLang="ja-JP" sz="2400" dirty="0"/>
              <a:t>(</a:t>
            </a:r>
            <a:r>
              <a:rPr kumimoji="1" lang="ja-JP" altLang="en-US" sz="2400" dirty="0"/>
              <a:t>仮設</a:t>
            </a:r>
            <a:r>
              <a:rPr kumimoji="1" lang="en-US" altLang="ja-JP" sz="2400" dirty="0"/>
              <a:t>)</a:t>
            </a:r>
            <a:endParaRPr lang="en-US" altLang="ja-JP" sz="2400" dirty="0"/>
          </a:p>
        </p:txBody>
      </p:sp>
      <p:pic>
        <p:nvPicPr>
          <p:cNvPr id="6" name="Picture 2" descr="産業用ロボットイラスト｜無料イラスト・フリー素材なら「イラストAC」">
            <a:extLst>
              <a:ext uri="{FF2B5EF4-FFF2-40B4-BE49-F238E27FC236}">
                <a16:creationId xmlns:a16="http://schemas.microsoft.com/office/drawing/2014/main" id="{8AC2E508-FEFF-6665-CB22-44AE2739B478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768833" y="1239699"/>
            <a:ext cx="521819" cy="57465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正方形/長方形 15">
            <a:extLst>
              <a:ext uri="{FF2B5EF4-FFF2-40B4-BE49-F238E27FC236}">
                <a16:creationId xmlns:a16="http://schemas.microsoft.com/office/drawing/2014/main" id="{3CFBE8EA-7947-0FD8-5635-00A13FE80B81}"/>
              </a:ext>
            </a:extLst>
          </p:cNvPr>
          <p:cNvSpPr/>
          <p:nvPr/>
        </p:nvSpPr>
        <p:spPr>
          <a:xfrm>
            <a:off x="8884729" y="4924353"/>
            <a:ext cx="1167840" cy="245520"/>
          </a:xfrm>
          <a:prstGeom prst="rect">
            <a:avLst/>
          </a:prstGeom>
          <a:noFill/>
          <a:ln w="6350"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Fortigate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図 16">
            <a:extLst>
              <a:ext uri="{FF2B5EF4-FFF2-40B4-BE49-F238E27FC236}">
                <a16:creationId xmlns:a16="http://schemas.microsoft.com/office/drawing/2014/main" id="{57528CE2-FF68-C8EB-9E75-7BB2DD09C55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15347" y="4791008"/>
            <a:ext cx="287280" cy="147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図 17">
            <a:extLst>
              <a:ext uri="{FF2B5EF4-FFF2-40B4-BE49-F238E27FC236}">
                <a16:creationId xmlns:a16="http://schemas.microsoft.com/office/drawing/2014/main" id="{35C1F2EC-67D1-57FA-1288-1E7C5CD8E40A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0733467" y="4816568"/>
            <a:ext cx="281160" cy="4716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2" name="グループ化 19">
            <a:extLst>
              <a:ext uri="{FF2B5EF4-FFF2-40B4-BE49-F238E27FC236}">
                <a16:creationId xmlns:a16="http://schemas.microsoft.com/office/drawing/2014/main" id="{4CD441F3-C210-2A89-0D7A-9A97F88DD2FF}"/>
              </a:ext>
            </a:extLst>
          </p:cNvPr>
          <p:cNvGrpSpPr/>
          <p:nvPr/>
        </p:nvGrpSpPr>
        <p:grpSpPr>
          <a:xfrm>
            <a:off x="7536960" y="1120320"/>
            <a:ext cx="1513080" cy="592200"/>
            <a:chOff x="7536960" y="1120320"/>
            <a:chExt cx="1513080" cy="592200"/>
          </a:xfrm>
        </p:grpSpPr>
        <p:pic>
          <p:nvPicPr>
            <p:cNvPr id="13" name="Picture 10" descr="Mantis">
              <a:extLst>
                <a:ext uri="{FF2B5EF4-FFF2-40B4-BE49-F238E27FC236}">
                  <a16:creationId xmlns:a16="http://schemas.microsoft.com/office/drawing/2014/main" id="{0FA2FF31-E2BE-B560-2807-E39984EFD588}"/>
                </a:ext>
              </a:extLst>
            </p:cNvPr>
            <p:cNvPicPr/>
            <p:nvPr/>
          </p:nvPicPr>
          <p:blipFill>
            <a:blip r:embed="rId5"/>
            <a:stretch/>
          </p:blipFill>
          <p:spPr>
            <a:xfrm>
              <a:off x="7536960" y="1370880"/>
              <a:ext cx="1513080" cy="341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" name="テキスト ボックス 21">
              <a:extLst>
                <a:ext uri="{FF2B5EF4-FFF2-40B4-BE49-F238E27FC236}">
                  <a16:creationId xmlns:a16="http://schemas.microsoft.com/office/drawing/2014/main" id="{E5939DDA-7697-AEAD-2341-288431533577}"/>
                </a:ext>
              </a:extLst>
            </p:cNvPr>
            <p:cNvSpPr/>
            <p:nvPr/>
          </p:nvSpPr>
          <p:spPr>
            <a:xfrm>
              <a:off x="7536960" y="1120320"/>
              <a:ext cx="1174680" cy="27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Think Platform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5" name="直線コネクタ 22">
            <a:extLst>
              <a:ext uri="{FF2B5EF4-FFF2-40B4-BE49-F238E27FC236}">
                <a16:creationId xmlns:a16="http://schemas.microsoft.com/office/drawing/2014/main" id="{3685AC0D-EDB2-256A-9D1A-73B01AE40035}"/>
              </a:ext>
            </a:extLst>
          </p:cNvPr>
          <p:cNvCxnSpPr>
            <a:cxnSpLocks/>
          </p:cNvCxnSpPr>
          <p:nvPr/>
        </p:nvCxnSpPr>
        <p:spPr>
          <a:xfrm>
            <a:off x="6355800" y="792720"/>
            <a:ext cx="0" cy="1860040"/>
          </a:xfrm>
          <a:prstGeom prst="straightConnector1">
            <a:avLst/>
          </a:prstGeom>
          <a:ln w="0">
            <a:solidFill>
              <a:srgbClr val="000000"/>
            </a:solidFill>
            <a:prstDash val="lgDashDot"/>
          </a:ln>
        </p:spPr>
      </p:cxnSp>
      <p:sp>
        <p:nvSpPr>
          <p:cNvPr id="18" name="テキスト ボックス 28">
            <a:extLst>
              <a:ext uri="{FF2B5EF4-FFF2-40B4-BE49-F238E27FC236}">
                <a16:creationId xmlns:a16="http://schemas.microsoft.com/office/drawing/2014/main" id="{94B8CB49-0C14-A85F-BF63-F8843ABC17C1}"/>
              </a:ext>
            </a:extLst>
          </p:cNvPr>
          <p:cNvSpPr/>
          <p:nvPr/>
        </p:nvSpPr>
        <p:spPr>
          <a:xfrm>
            <a:off x="6526440" y="757800"/>
            <a:ext cx="768960" cy="30708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ja-JP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クラウド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正方形/長方形 33">
            <a:extLst>
              <a:ext uri="{FF2B5EF4-FFF2-40B4-BE49-F238E27FC236}">
                <a16:creationId xmlns:a16="http://schemas.microsoft.com/office/drawing/2014/main" id="{38D3F4F8-A370-92A7-4187-83AD3ADFB992}"/>
              </a:ext>
            </a:extLst>
          </p:cNvPr>
          <p:cNvSpPr/>
          <p:nvPr/>
        </p:nvSpPr>
        <p:spPr>
          <a:xfrm>
            <a:off x="7865181" y="5456164"/>
            <a:ext cx="546579" cy="557345"/>
          </a:xfrm>
          <a:prstGeom prst="rect">
            <a:avLst/>
          </a:prstGeom>
          <a:noFill/>
          <a:ln w="6350"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SW HUB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" name="直線コネクタ 38">
            <a:extLst>
              <a:ext uri="{FF2B5EF4-FFF2-40B4-BE49-F238E27FC236}">
                <a16:creationId xmlns:a16="http://schemas.microsoft.com/office/drawing/2014/main" id="{FB668470-7FE2-32D2-36F2-C2D7727225CC}"/>
              </a:ext>
            </a:extLst>
          </p:cNvPr>
          <p:cNvCxnSpPr>
            <a:cxnSpLocks/>
          </p:cNvCxnSpPr>
          <p:nvPr/>
        </p:nvCxnSpPr>
        <p:spPr>
          <a:xfrm>
            <a:off x="5341140" y="2652760"/>
            <a:ext cx="6577020" cy="0"/>
          </a:xfrm>
          <a:prstGeom prst="straightConnector1">
            <a:avLst/>
          </a:prstGeom>
          <a:ln w="0">
            <a:solidFill>
              <a:srgbClr val="000000"/>
            </a:solidFill>
            <a:prstDash val="lgDashDot"/>
          </a:ln>
        </p:spPr>
      </p:cxnSp>
      <p:sp>
        <p:nvSpPr>
          <p:cNvPr id="27" name="テキスト ボックス 40">
            <a:extLst>
              <a:ext uri="{FF2B5EF4-FFF2-40B4-BE49-F238E27FC236}">
                <a16:creationId xmlns:a16="http://schemas.microsoft.com/office/drawing/2014/main" id="{5D8FBBFC-1139-76DA-D87D-11352F6B29E8}"/>
              </a:ext>
            </a:extLst>
          </p:cNvPr>
          <p:cNvSpPr/>
          <p:nvPr/>
        </p:nvSpPr>
        <p:spPr>
          <a:xfrm>
            <a:off x="712440" y="751320"/>
            <a:ext cx="933518" cy="306323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ja-JP" sz="1400" dirty="0">
                <a:solidFill>
                  <a:schemeClr val="dk1"/>
                </a:solidFill>
                <a:latin typeface="Arial"/>
                <a:ea typeface="ＭＳ Ｐゴシック"/>
              </a:rPr>
              <a:t>2F </a:t>
            </a:r>
            <a:r>
              <a:rPr lang="ja-JP" altLang="en-US" sz="1400" dirty="0">
                <a:solidFill>
                  <a:schemeClr val="dk1"/>
                </a:solidFill>
                <a:latin typeface="Arial"/>
                <a:ea typeface="ＭＳ Ｐゴシック"/>
              </a:rPr>
              <a:t>炉前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" name="直線コネクタ 46">
            <a:extLst>
              <a:ext uri="{FF2B5EF4-FFF2-40B4-BE49-F238E27FC236}">
                <a16:creationId xmlns:a16="http://schemas.microsoft.com/office/drawing/2014/main" id="{96CD9CD1-398E-5747-E05B-A678A62C2F4F}"/>
              </a:ext>
            </a:extLst>
          </p:cNvPr>
          <p:cNvCxnSpPr>
            <a:cxnSpLocks/>
            <a:endCxn id="57" idx="1"/>
          </p:cNvCxnSpPr>
          <p:nvPr/>
        </p:nvCxnSpPr>
        <p:spPr>
          <a:xfrm>
            <a:off x="2444919" y="1490186"/>
            <a:ext cx="1407490" cy="0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cxnSp>
        <p:nvCxnSpPr>
          <p:cNvPr id="29" name="直線コネクタ 47">
            <a:extLst>
              <a:ext uri="{FF2B5EF4-FFF2-40B4-BE49-F238E27FC236}">
                <a16:creationId xmlns:a16="http://schemas.microsoft.com/office/drawing/2014/main" id="{C7FC948C-4EF7-ACDD-9E51-1AB240FCD7D6}"/>
              </a:ext>
            </a:extLst>
          </p:cNvPr>
          <p:cNvCxnSpPr>
            <a:cxnSpLocks/>
          </p:cNvCxnSpPr>
          <p:nvPr/>
        </p:nvCxnSpPr>
        <p:spPr>
          <a:xfrm flipV="1">
            <a:off x="4239390" y="2467246"/>
            <a:ext cx="0" cy="1284881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cxnSp>
        <p:nvCxnSpPr>
          <p:cNvPr id="30" name="直線コネクタ 48">
            <a:extLst>
              <a:ext uri="{FF2B5EF4-FFF2-40B4-BE49-F238E27FC236}">
                <a16:creationId xmlns:a16="http://schemas.microsoft.com/office/drawing/2014/main" id="{D3DE5053-A64B-1158-7C88-76FC2D8B7CC4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10052569" y="5047113"/>
            <a:ext cx="680898" cy="5255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cxnSp>
        <p:nvCxnSpPr>
          <p:cNvPr id="32" name="直線コネクタ 22">
            <a:extLst>
              <a:ext uri="{FF2B5EF4-FFF2-40B4-BE49-F238E27FC236}">
                <a16:creationId xmlns:a16="http://schemas.microsoft.com/office/drawing/2014/main" id="{4D7F7A57-406B-964A-A7B2-ECDE49D43583}"/>
              </a:ext>
            </a:extLst>
          </p:cNvPr>
          <p:cNvCxnSpPr>
            <a:cxnSpLocks/>
          </p:cNvCxnSpPr>
          <p:nvPr/>
        </p:nvCxnSpPr>
        <p:spPr>
          <a:xfrm flipH="1">
            <a:off x="5329980" y="2652760"/>
            <a:ext cx="14476" cy="3434120"/>
          </a:xfrm>
          <a:prstGeom prst="straightConnector1">
            <a:avLst/>
          </a:prstGeom>
          <a:ln w="0">
            <a:solidFill>
              <a:srgbClr val="000000"/>
            </a:solidFill>
            <a:prstDash val="lgDashDot"/>
          </a:ln>
        </p:spPr>
      </p:cxnSp>
      <p:sp>
        <p:nvSpPr>
          <p:cNvPr id="33" name="テキスト ボックス 1">
            <a:extLst>
              <a:ext uri="{FF2B5EF4-FFF2-40B4-BE49-F238E27FC236}">
                <a16:creationId xmlns:a16="http://schemas.microsoft.com/office/drawing/2014/main" id="{9AD38C14-EAE1-A2FE-689C-E96A604268AC}"/>
              </a:ext>
            </a:extLst>
          </p:cNvPr>
          <p:cNvSpPr/>
          <p:nvPr/>
        </p:nvSpPr>
        <p:spPr>
          <a:xfrm>
            <a:off x="5529348" y="2757474"/>
            <a:ext cx="2182186" cy="306323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5F </a:t>
            </a:r>
            <a:r>
              <a:rPr lang="ja-JP" alt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中央制御室</a:t>
            </a:r>
            <a:r>
              <a:rPr lang="en-US" altLang="ja-JP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/</a:t>
            </a:r>
            <a:r>
              <a:rPr lang="ja-JP" alt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電算機室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正方形/長方形 42">
            <a:extLst>
              <a:ext uri="{FF2B5EF4-FFF2-40B4-BE49-F238E27FC236}">
                <a16:creationId xmlns:a16="http://schemas.microsoft.com/office/drawing/2014/main" id="{5476D822-81C2-9A7A-7F03-9EB32EEF1805}"/>
              </a:ext>
            </a:extLst>
          </p:cNvPr>
          <p:cNvSpPr/>
          <p:nvPr/>
        </p:nvSpPr>
        <p:spPr>
          <a:xfrm>
            <a:off x="5672167" y="3407487"/>
            <a:ext cx="1366686" cy="1858692"/>
          </a:xfrm>
          <a:prstGeom prst="rect">
            <a:avLst/>
          </a:prstGeom>
          <a:noFill/>
          <a:ln w="6350"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altLang="ja-JP" sz="1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正方形/長方形 33">
            <a:extLst>
              <a:ext uri="{FF2B5EF4-FFF2-40B4-BE49-F238E27FC236}">
                <a16:creationId xmlns:a16="http://schemas.microsoft.com/office/drawing/2014/main" id="{B0526B21-8CF8-CA6B-E163-FB48EAECD5C6}"/>
              </a:ext>
            </a:extLst>
          </p:cNvPr>
          <p:cNvSpPr/>
          <p:nvPr/>
        </p:nvSpPr>
        <p:spPr>
          <a:xfrm>
            <a:off x="7766890" y="4427119"/>
            <a:ext cx="741722" cy="790508"/>
          </a:xfrm>
          <a:prstGeom prst="rect">
            <a:avLst/>
          </a:prstGeom>
          <a:noFill/>
          <a:ln w="6350"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ja-JP" sz="8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Fortigate</a:t>
            </a:r>
            <a:r>
              <a:rPr lang="ja-JP" altLang="en-US" sz="8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用</a:t>
            </a:r>
            <a:r>
              <a:rPr lang="en-US" altLang="ja-JP" sz="8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HUB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テキスト ボックス 32">
            <a:extLst>
              <a:ext uri="{FF2B5EF4-FFF2-40B4-BE49-F238E27FC236}">
                <a16:creationId xmlns:a16="http://schemas.microsoft.com/office/drawing/2014/main" id="{9456D55A-8B4B-1235-E912-6689893A1AC6}"/>
              </a:ext>
            </a:extLst>
          </p:cNvPr>
          <p:cNvSpPr/>
          <p:nvPr/>
        </p:nvSpPr>
        <p:spPr>
          <a:xfrm>
            <a:off x="5574274" y="3162719"/>
            <a:ext cx="1141957" cy="2447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ja-JP" altLang="en-US" sz="1000" dirty="0">
                <a:solidFill>
                  <a:schemeClr val="dk1"/>
                </a:solidFill>
                <a:latin typeface="Arial"/>
                <a:ea typeface="ＭＳ Ｐゴシック"/>
              </a:rPr>
              <a:t>中央制御盤</a:t>
            </a:r>
            <a:r>
              <a:rPr lang="en-US" altLang="ja-JP" sz="1000" dirty="0">
                <a:solidFill>
                  <a:schemeClr val="dk1"/>
                </a:solidFill>
                <a:latin typeface="Arial"/>
                <a:ea typeface="ＭＳ Ｐゴシック"/>
              </a:rPr>
              <a:t>(</a:t>
            </a:r>
            <a:r>
              <a:rPr lang="ja-JP" altLang="en-US" sz="1000" dirty="0">
                <a:solidFill>
                  <a:schemeClr val="dk1"/>
                </a:solidFill>
                <a:latin typeface="Arial"/>
                <a:ea typeface="ＭＳ Ｐゴシック"/>
              </a:rPr>
              <a:t>ロボ</a:t>
            </a:r>
            <a:r>
              <a:rPr lang="en-US" altLang="ja-JP" sz="1000" dirty="0">
                <a:solidFill>
                  <a:schemeClr val="dk1"/>
                </a:solidFill>
                <a:latin typeface="Arial"/>
                <a:ea typeface="ＭＳ Ｐゴシック"/>
              </a:rPr>
              <a:t>)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" name="直線コネクタ 46">
            <a:extLst>
              <a:ext uri="{FF2B5EF4-FFF2-40B4-BE49-F238E27FC236}">
                <a16:creationId xmlns:a16="http://schemas.microsoft.com/office/drawing/2014/main" id="{46EE1A30-F525-78BC-6F29-4E3557A071F7}"/>
              </a:ext>
            </a:extLst>
          </p:cNvPr>
          <p:cNvCxnSpPr>
            <a:cxnSpLocks/>
          </p:cNvCxnSpPr>
          <p:nvPr/>
        </p:nvCxnSpPr>
        <p:spPr>
          <a:xfrm>
            <a:off x="8509332" y="5048855"/>
            <a:ext cx="379669" cy="0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cxnSp>
        <p:nvCxnSpPr>
          <p:cNvPr id="40" name="直線コネクタ 46">
            <a:extLst>
              <a:ext uri="{FF2B5EF4-FFF2-40B4-BE49-F238E27FC236}">
                <a16:creationId xmlns:a16="http://schemas.microsoft.com/office/drawing/2014/main" id="{1CA6DAE7-7144-41F8-C30F-BC7225320FC7}"/>
              </a:ext>
            </a:extLst>
          </p:cNvPr>
          <p:cNvCxnSpPr>
            <a:cxnSpLocks/>
            <a:endCxn id="104" idx="1"/>
          </p:cNvCxnSpPr>
          <p:nvPr/>
        </p:nvCxnSpPr>
        <p:spPr>
          <a:xfrm>
            <a:off x="4239390" y="3752127"/>
            <a:ext cx="1742532" cy="0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pic>
        <p:nvPicPr>
          <p:cNvPr id="48" name="Picture 4" descr="Grafana, Telegraf et InfluxDB : Surveillez l'état de vos serveurs - Odeven">
            <a:extLst>
              <a:ext uri="{FF2B5EF4-FFF2-40B4-BE49-F238E27FC236}">
                <a16:creationId xmlns:a16="http://schemas.microsoft.com/office/drawing/2014/main" id="{050610D7-2D20-EEAF-39A1-A6AF23121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9784" y="5547146"/>
            <a:ext cx="519726" cy="156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8" descr="Grafana#WindowsでGrafanaをインストールしよう |">
            <a:extLst>
              <a:ext uri="{FF2B5EF4-FFF2-40B4-BE49-F238E27FC236}">
                <a16:creationId xmlns:a16="http://schemas.microsoft.com/office/drawing/2014/main" id="{7B58BDDD-B3DF-4BF1-3504-E77C1A00E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3984" y="5732395"/>
            <a:ext cx="471600" cy="23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12">
            <a:extLst>
              <a:ext uri="{FF2B5EF4-FFF2-40B4-BE49-F238E27FC236}">
                <a16:creationId xmlns:a16="http://schemas.microsoft.com/office/drawing/2014/main" id="{4AB8D78A-CB7B-715E-5EE6-8404E3743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1937" y="5601967"/>
            <a:ext cx="441169" cy="244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30B4296D-F2A2-17C9-4FB1-C4D5D552FCF7}"/>
              </a:ext>
            </a:extLst>
          </p:cNvPr>
          <p:cNvGrpSpPr/>
          <p:nvPr/>
        </p:nvGrpSpPr>
        <p:grpSpPr>
          <a:xfrm>
            <a:off x="3663701" y="899600"/>
            <a:ext cx="2432299" cy="1567646"/>
            <a:chOff x="3629833" y="899600"/>
            <a:chExt cx="2432299" cy="1567646"/>
          </a:xfrm>
        </p:grpSpPr>
        <p:grpSp>
          <p:nvGrpSpPr>
            <p:cNvPr id="52" name="グループ化 51">
              <a:extLst>
                <a:ext uri="{FF2B5EF4-FFF2-40B4-BE49-F238E27FC236}">
                  <a16:creationId xmlns:a16="http://schemas.microsoft.com/office/drawing/2014/main" id="{E494348C-2E22-2C56-E32D-C9F81656DBBF}"/>
                </a:ext>
              </a:extLst>
            </p:cNvPr>
            <p:cNvGrpSpPr/>
            <p:nvPr/>
          </p:nvGrpSpPr>
          <p:grpSpPr>
            <a:xfrm>
              <a:off x="3629833" y="899600"/>
              <a:ext cx="2432299" cy="1567646"/>
              <a:chOff x="3940449" y="715756"/>
              <a:chExt cx="2432299" cy="1567646"/>
            </a:xfrm>
          </p:grpSpPr>
          <p:grpSp>
            <p:nvGrpSpPr>
              <p:cNvPr id="54" name="グループ化 53">
                <a:extLst>
                  <a:ext uri="{FF2B5EF4-FFF2-40B4-BE49-F238E27FC236}">
                    <a16:creationId xmlns:a16="http://schemas.microsoft.com/office/drawing/2014/main" id="{5C2675CA-7E80-FE2A-4E61-9A50C7BED6C2}"/>
                  </a:ext>
                </a:extLst>
              </p:cNvPr>
              <p:cNvGrpSpPr/>
              <p:nvPr/>
            </p:nvGrpSpPr>
            <p:grpSpPr>
              <a:xfrm>
                <a:off x="3945780" y="986083"/>
                <a:ext cx="2426968" cy="1297319"/>
                <a:chOff x="3726763" y="691723"/>
                <a:chExt cx="2426968" cy="1297319"/>
              </a:xfrm>
            </p:grpSpPr>
            <p:sp>
              <p:nvSpPr>
                <p:cNvPr id="56" name="正方形/長方形 42">
                  <a:extLst>
                    <a:ext uri="{FF2B5EF4-FFF2-40B4-BE49-F238E27FC236}">
                      <a16:creationId xmlns:a16="http://schemas.microsoft.com/office/drawing/2014/main" id="{1777DEEC-A55B-75C6-DC64-B68DB0237F32}"/>
                    </a:ext>
                  </a:extLst>
                </p:cNvPr>
                <p:cNvSpPr/>
                <p:nvPr/>
              </p:nvSpPr>
              <p:spPr>
                <a:xfrm>
                  <a:off x="3726763" y="691723"/>
                  <a:ext cx="2426968" cy="1297319"/>
                </a:xfrm>
                <a:prstGeom prst="rect">
                  <a:avLst/>
                </a:prstGeom>
                <a:noFill/>
                <a:ln w="6350">
                  <a:solidFill>
                    <a:srgbClr val="000000"/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endParaRPr lang="en-US" altLang="ja-JP" sz="1200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57" name="正方形/長方形 33">
                  <a:extLst>
                    <a:ext uri="{FF2B5EF4-FFF2-40B4-BE49-F238E27FC236}">
                      <a16:creationId xmlns:a16="http://schemas.microsoft.com/office/drawing/2014/main" id="{F1EE235F-BA6A-BE79-89BE-6D85378594F5}"/>
                    </a:ext>
                  </a:extLst>
                </p:cNvPr>
                <p:cNvSpPr/>
                <p:nvPr/>
              </p:nvSpPr>
              <p:spPr>
                <a:xfrm>
                  <a:off x="3910140" y="790222"/>
                  <a:ext cx="818280" cy="443520"/>
                </a:xfrm>
                <a:prstGeom prst="rect">
                  <a:avLst/>
                </a:prstGeom>
                <a:noFill/>
                <a:ln w="6350">
                  <a:solidFill>
                    <a:srgbClr val="000000"/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sz="1200" b="0" u="none" strike="noStrike" dirty="0">
                      <a:solidFill>
                        <a:schemeClr val="dk1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HUB</a:t>
                  </a:r>
                  <a:endParaRPr lang="en-US" sz="1200" b="0" u="none" strike="noStrike" dirty="0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55" name="テキスト ボックス 32">
                <a:extLst>
                  <a:ext uri="{FF2B5EF4-FFF2-40B4-BE49-F238E27FC236}">
                    <a16:creationId xmlns:a16="http://schemas.microsoft.com/office/drawing/2014/main" id="{A104D64F-91D1-2C83-F80F-533D9325F941}"/>
                  </a:ext>
                </a:extLst>
              </p:cNvPr>
              <p:cNvSpPr/>
              <p:nvPr/>
            </p:nvSpPr>
            <p:spPr>
              <a:xfrm>
                <a:off x="3940449" y="715756"/>
                <a:ext cx="1141957" cy="244767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t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ja-JP" altLang="en-US" sz="1000" b="0" u="none" strike="noStrike" dirty="0">
                    <a:solidFill>
                      <a:schemeClr val="dk1"/>
                    </a:solidFill>
                    <a:effectLst/>
                    <a:uFillTx/>
                    <a:latin typeface="Arial"/>
                    <a:ea typeface="ＭＳ Ｐゴシック"/>
                  </a:rPr>
                  <a:t>現場制御盤</a:t>
                </a:r>
                <a:r>
                  <a:rPr lang="en-US" altLang="ja-JP" sz="1000" b="0" u="none" strike="noStrike" dirty="0">
                    <a:solidFill>
                      <a:schemeClr val="dk1"/>
                    </a:solidFill>
                    <a:effectLst/>
                    <a:uFillTx/>
                    <a:latin typeface="Arial"/>
                    <a:ea typeface="ＭＳ Ｐゴシック"/>
                  </a:rPr>
                  <a:t>(</a:t>
                </a:r>
                <a:r>
                  <a:rPr lang="ja-JP" altLang="en-US" sz="1000" b="0" u="none" strike="noStrike" dirty="0">
                    <a:solidFill>
                      <a:schemeClr val="dk1"/>
                    </a:solidFill>
                    <a:effectLst/>
                    <a:uFillTx/>
                    <a:latin typeface="Arial"/>
                    <a:ea typeface="ＭＳ Ｐゴシック"/>
                  </a:rPr>
                  <a:t>ロボ</a:t>
                </a:r>
                <a:r>
                  <a:rPr lang="en-US" altLang="ja-JP" sz="1000" b="0" u="none" strike="noStrike" dirty="0">
                    <a:solidFill>
                      <a:schemeClr val="dk1"/>
                    </a:solidFill>
                    <a:effectLst/>
                    <a:uFillTx/>
                    <a:latin typeface="Arial"/>
                    <a:ea typeface="ＭＳ Ｐゴシック"/>
                  </a:rPr>
                  <a:t>)</a:t>
                </a:r>
                <a:endParaRPr lang="en-US" sz="10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53" name="図 63">
              <a:extLst>
                <a:ext uri="{FF2B5EF4-FFF2-40B4-BE49-F238E27FC236}">
                  <a16:creationId xmlns:a16="http://schemas.microsoft.com/office/drawing/2014/main" id="{E31777BE-F053-0E12-1AFD-AA2C2A064A68}"/>
                </a:ext>
              </a:extLst>
            </p:cNvPr>
            <p:cNvPicPr/>
            <p:nvPr/>
          </p:nvPicPr>
          <p:blipFill>
            <a:blip r:embed="rId9"/>
            <a:stretch/>
          </p:blipFill>
          <p:spPr>
            <a:xfrm>
              <a:off x="3862908" y="1800468"/>
              <a:ext cx="709920" cy="60588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59" name="図 8">
            <a:extLst>
              <a:ext uri="{FF2B5EF4-FFF2-40B4-BE49-F238E27FC236}">
                <a16:creationId xmlns:a16="http://schemas.microsoft.com/office/drawing/2014/main" id="{1DC7DEBD-E42F-FA9A-3BC2-151C151EE4A7}"/>
              </a:ext>
            </a:extLst>
          </p:cNvPr>
          <p:cNvPicPr/>
          <p:nvPr/>
        </p:nvPicPr>
        <p:blipFill>
          <a:blip r:embed="rId10"/>
          <a:stretch/>
        </p:blipFill>
        <p:spPr>
          <a:xfrm>
            <a:off x="7111204" y="5499548"/>
            <a:ext cx="365040" cy="42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テキスト ボックス 9">
            <a:extLst>
              <a:ext uri="{FF2B5EF4-FFF2-40B4-BE49-F238E27FC236}">
                <a16:creationId xmlns:a16="http://schemas.microsoft.com/office/drawing/2014/main" id="{81D4AB29-63E9-A6AD-8D32-250577F12384}"/>
              </a:ext>
            </a:extLst>
          </p:cNvPr>
          <p:cNvSpPr/>
          <p:nvPr/>
        </p:nvSpPr>
        <p:spPr>
          <a:xfrm>
            <a:off x="7100858" y="5885533"/>
            <a:ext cx="446760" cy="24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NAS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Picture 4" descr="Grafana, Telegraf et InfluxDB : Surveillez l'état de vos serveurs - Odeven">
            <a:extLst>
              <a:ext uri="{FF2B5EF4-FFF2-40B4-BE49-F238E27FC236}">
                <a16:creationId xmlns:a16="http://schemas.microsoft.com/office/drawing/2014/main" id="{3BC3644C-E5C1-AF24-58B5-5CD1B703CA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5570" y="1474728"/>
            <a:ext cx="813904" cy="244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8" descr="Grafana#WindowsでGrafanaをインストールしよう |">
            <a:extLst>
              <a:ext uri="{FF2B5EF4-FFF2-40B4-BE49-F238E27FC236}">
                <a16:creationId xmlns:a16="http://schemas.microsoft.com/office/drawing/2014/main" id="{DC1B833B-AC95-AF26-2487-AF024C4E2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4461" y="1120320"/>
            <a:ext cx="620383" cy="310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6" descr="What is Azure Blob Storage and use cases of Azure Blob Storage? -  DevOpsSchool.com">
            <a:extLst>
              <a:ext uri="{FF2B5EF4-FFF2-40B4-BE49-F238E27FC236}">
                <a16:creationId xmlns:a16="http://schemas.microsoft.com/office/drawing/2014/main" id="{3BD9D74B-1293-03BE-AE66-EDEDFB8DB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2642" y="1782980"/>
            <a:ext cx="868237" cy="402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5" name="直線コネクタ 46">
            <a:extLst>
              <a:ext uri="{FF2B5EF4-FFF2-40B4-BE49-F238E27FC236}">
                <a16:creationId xmlns:a16="http://schemas.microsoft.com/office/drawing/2014/main" id="{917013E9-586A-6B4B-C338-803087824248}"/>
              </a:ext>
            </a:extLst>
          </p:cNvPr>
          <p:cNvCxnSpPr>
            <a:cxnSpLocks/>
          </p:cNvCxnSpPr>
          <p:nvPr/>
        </p:nvCxnSpPr>
        <p:spPr>
          <a:xfrm>
            <a:off x="6644167" y="4549140"/>
            <a:ext cx="1122723" cy="0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pic>
        <p:nvPicPr>
          <p:cNvPr id="66" name="図 8">
            <a:extLst>
              <a:ext uri="{FF2B5EF4-FFF2-40B4-BE49-F238E27FC236}">
                <a16:creationId xmlns:a16="http://schemas.microsoft.com/office/drawing/2014/main" id="{1F3A3204-E9F2-8F04-779A-5BE574EBAC03}"/>
              </a:ext>
            </a:extLst>
          </p:cNvPr>
          <p:cNvPicPr/>
          <p:nvPr/>
        </p:nvPicPr>
        <p:blipFill>
          <a:blip r:embed="rId10"/>
          <a:stretch/>
        </p:blipFill>
        <p:spPr>
          <a:xfrm>
            <a:off x="6313406" y="4336200"/>
            <a:ext cx="365040" cy="42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テキスト ボックス 9">
            <a:extLst>
              <a:ext uri="{FF2B5EF4-FFF2-40B4-BE49-F238E27FC236}">
                <a16:creationId xmlns:a16="http://schemas.microsoft.com/office/drawing/2014/main" id="{AE018254-2292-390A-27CD-1098205813CA}"/>
              </a:ext>
            </a:extLst>
          </p:cNvPr>
          <p:cNvSpPr/>
          <p:nvPr/>
        </p:nvSpPr>
        <p:spPr>
          <a:xfrm>
            <a:off x="6133896" y="4751411"/>
            <a:ext cx="814943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8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ロボサーバ</a:t>
            </a:r>
            <a:r>
              <a:rPr lang="en-US" altLang="ja-JP" sz="8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PC</a:t>
            </a:r>
          </a:p>
          <a:p>
            <a:pPr algn="ctr">
              <a:lnSpc>
                <a:spcPct val="100000"/>
              </a:lnSpc>
            </a:pPr>
            <a:r>
              <a:rPr lang="en-US" sz="800" dirty="0">
                <a:solidFill>
                  <a:schemeClr val="dk1"/>
                </a:solidFill>
                <a:latin typeface="Arial"/>
                <a:ea typeface="ＭＳ Ｐゴシック"/>
              </a:rPr>
              <a:t>(</a:t>
            </a:r>
            <a:r>
              <a:rPr lang="en-US" sz="800" dirty="0" err="1">
                <a:solidFill>
                  <a:schemeClr val="dk1"/>
                </a:solidFill>
                <a:latin typeface="Arial"/>
                <a:ea typeface="ＭＳ Ｐゴシック"/>
              </a:rPr>
              <a:t>SoftGOT</a:t>
            </a:r>
            <a:r>
              <a:rPr lang="en-US" sz="800" dirty="0">
                <a:solidFill>
                  <a:schemeClr val="dk1"/>
                </a:solidFill>
                <a:latin typeface="Arial"/>
                <a:ea typeface="ＭＳ Ｐゴシック"/>
              </a:rPr>
              <a:t>)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" name="直線コネクタ 34">
            <a:extLst>
              <a:ext uri="{FF2B5EF4-FFF2-40B4-BE49-F238E27FC236}">
                <a16:creationId xmlns:a16="http://schemas.microsoft.com/office/drawing/2014/main" id="{A4D526BA-6E45-2A6D-D1ED-8CD0D8493FB3}"/>
              </a:ext>
            </a:extLst>
          </p:cNvPr>
          <p:cNvCxnSpPr/>
          <p:nvPr/>
        </p:nvCxnSpPr>
        <p:spPr>
          <a:xfrm>
            <a:off x="8422920" y="5736846"/>
            <a:ext cx="401760" cy="720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B048C421-8C4D-3EF7-5875-D2C8D01DB291}"/>
              </a:ext>
            </a:extLst>
          </p:cNvPr>
          <p:cNvGrpSpPr/>
          <p:nvPr/>
        </p:nvGrpSpPr>
        <p:grpSpPr>
          <a:xfrm>
            <a:off x="850041" y="5629470"/>
            <a:ext cx="378324" cy="189765"/>
            <a:chOff x="1803629" y="5288168"/>
            <a:chExt cx="378324" cy="189765"/>
          </a:xfrm>
        </p:grpSpPr>
        <p:sp>
          <p:nvSpPr>
            <p:cNvPr id="70" name="正方形/長方形 42">
              <a:extLst>
                <a:ext uri="{FF2B5EF4-FFF2-40B4-BE49-F238E27FC236}">
                  <a16:creationId xmlns:a16="http://schemas.microsoft.com/office/drawing/2014/main" id="{B31D84C7-2004-5DE6-36AA-D127965C3213}"/>
                </a:ext>
              </a:extLst>
            </p:cNvPr>
            <p:cNvSpPr/>
            <p:nvPr/>
          </p:nvSpPr>
          <p:spPr>
            <a:xfrm>
              <a:off x="1877531" y="5288168"/>
              <a:ext cx="304422" cy="189765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US" altLang="ja-JP" sz="120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" name="正方形/長方形 42">
              <a:extLst>
                <a:ext uri="{FF2B5EF4-FFF2-40B4-BE49-F238E27FC236}">
                  <a16:creationId xmlns:a16="http://schemas.microsoft.com/office/drawing/2014/main" id="{17D03896-F0B0-3214-F8FF-6BB41EEF4DB9}"/>
                </a:ext>
              </a:extLst>
            </p:cNvPr>
            <p:cNvSpPr/>
            <p:nvPr/>
          </p:nvSpPr>
          <p:spPr>
            <a:xfrm>
              <a:off x="1803629" y="5330133"/>
              <a:ext cx="73902" cy="105833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US" altLang="ja-JP" sz="1200" dirty="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3" name="テキスト ボックス 9">
            <a:extLst>
              <a:ext uri="{FF2B5EF4-FFF2-40B4-BE49-F238E27FC236}">
                <a16:creationId xmlns:a16="http://schemas.microsoft.com/office/drawing/2014/main" id="{D7865B1D-2E2C-2801-E06B-E3E09988A90C}"/>
              </a:ext>
            </a:extLst>
          </p:cNvPr>
          <p:cNvSpPr/>
          <p:nvPr/>
        </p:nvSpPr>
        <p:spPr>
          <a:xfrm>
            <a:off x="751236" y="5861200"/>
            <a:ext cx="649835" cy="213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800" dirty="0">
                <a:solidFill>
                  <a:schemeClr val="dk1"/>
                </a:solidFill>
                <a:latin typeface="Arial"/>
                <a:ea typeface="ＭＳ Ｐゴシック"/>
              </a:rPr>
              <a:t>前炉用</a:t>
            </a:r>
            <a:r>
              <a:rPr lang="en-US" altLang="ja-JP" sz="800" dirty="0">
                <a:solidFill>
                  <a:schemeClr val="dk1"/>
                </a:solidFill>
                <a:latin typeface="Arial"/>
                <a:ea typeface="ＭＳ Ｐゴシック"/>
              </a:rPr>
              <a:t>ITV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4" name="グループ化 73">
            <a:extLst>
              <a:ext uri="{FF2B5EF4-FFF2-40B4-BE49-F238E27FC236}">
                <a16:creationId xmlns:a16="http://schemas.microsoft.com/office/drawing/2014/main" id="{A4CED57D-88E5-1779-099D-FBB1E5C98582}"/>
              </a:ext>
            </a:extLst>
          </p:cNvPr>
          <p:cNvGrpSpPr/>
          <p:nvPr/>
        </p:nvGrpSpPr>
        <p:grpSpPr>
          <a:xfrm>
            <a:off x="850041" y="5323840"/>
            <a:ext cx="378324" cy="189765"/>
            <a:chOff x="1803629" y="5288168"/>
            <a:chExt cx="378324" cy="189765"/>
          </a:xfrm>
        </p:grpSpPr>
        <p:sp>
          <p:nvSpPr>
            <p:cNvPr id="75" name="正方形/長方形 42">
              <a:extLst>
                <a:ext uri="{FF2B5EF4-FFF2-40B4-BE49-F238E27FC236}">
                  <a16:creationId xmlns:a16="http://schemas.microsoft.com/office/drawing/2014/main" id="{D5C9E91E-2B32-2FA1-0505-A2B9432E190E}"/>
                </a:ext>
              </a:extLst>
            </p:cNvPr>
            <p:cNvSpPr/>
            <p:nvPr/>
          </p:nvSpPr>
          <p:spPr>
            <a:xfrm>
              <a:off x="1877531" y="5288168"/>
              <a:ext cx="304422" cy="189765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US" altLang="ja-JP" sz="120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" name="正方形/長方形 42">
              <a:extLst>
                <a:ext uri="{FF2B5EF4-FFF2-40B4-BE49-F238E27FC236}">
                  <a16:creationId xmlns:a16="http://schemas.microsoft.com/office/drawing/2014/main" id="{27DC0933-9AA0-CD53-483A-49518762D8A6}"/>
                </a:ext>
              </a:extLst>
            </p:cNvPr>
            <p:cNvSpPr/>
            <p:nvPr/>
          </p:nvSpPr>
          <p:spPr>
            <a:xfrm>
              <a:off x="1803629" y="5330133"/>
              <a:ext cx="73902" cy="105833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US" altLang="ja-JP" sz="1200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6A3F12BE-18EA-9940-02AB-463761AC5B94}"/>
              </a:ext>
            </a:extLst>
          </p:cNvPr>
          <p:cNvGrpSpPr/>
          <p:nvPr/>
        </p:nvGrpSpPr>
        <p:grpSpPr>
          <a:xfrm>
            <a:off x="850041" y="5022020"/>
            <a:ext cx="378324" cy="189765"/>
            <a:chOff x="1803629" y="5288168"/>
            <a:chExt cx="378324" cy="189765"/>
          </a:xfrm>
        </p:grpSpPr>
        <p:sp>
          <p:nvSpPr>
            <p:cNvPr id="78" name="正方形/長方形 42">
              <a:extLst>
                <a:ext uri="{FF2B5EF4-FFF2-40B4-BE49-F238E27FC236}">
                  <a16:creationId xmlns:a16="http://schemas.microsoft.com/office/drawing/2014/main" id="{CE0B3FB3-F178-7997-39AC-B9733A086FCB}"/>
                </a:ext>
              </a:extLst>
            </p:cNvPr>
            <p:cNvSpPr/>
            <p:nvPr/>
          </p:nvSpPr>
          <p:spPr>
            <a:xfrm>
              <a:off x="1877531" y="5288168"/>
              <a:ext cx="304422" cy="189765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US" altLang="ja-JP" sz="120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" name="正方形/長方形 42">
              <a:extLst>
                <a:ext uri="{FF2B5EF4-FFF2-40B4-BE49-F238E27FC236}">
                  <a16:creationId xmlns:a16="http://schemas.microsoft.com/office/drawing/2014/main" id="{235C5042-C06D-89B1-7284-5708AC404159}"/>
                </a:ext>
              </a:extLst>
            </p:cNvPr>
            <p:cNvSpPr/>
            <p:nvPr/>
          </p:nvSpPr>
          <p:spPr>
            <a:xfrm>
              <a:off x="1803629" y="5330133"/>
              <a:ext cx="73902" cy="105833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US" altLang="ja-JP" sz="1200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0" name="グループ化 79">
            <a:extLst>
              <a:ext uri="{FF2B5EF4-FFF2-40B4-BE49-F238E27FC236}">
                <a16:creationId xmlns:a16="http://schemas.microsoft.com/office/drawing/2014/main" id="{315ED4B2-E59B-68D9-043D-17AE1026C28A}"/>
              </a:ext>
            </a:extLst>
          </p:cNvPr>
          <p:cNvGrpSpPr/>
          <p:nvPr/>
        </p:nvGrpSpPr>
        <p:grpSpPr>
          <a:xfrm>
            <a:off x="850041" y="4721405"/>
            <a:ext cx="378324" cy="189765"/>
            <a:chOff x="1803629" y="5288168"/>
            <a:chExt cx="378324" cy="189765"/>
          </a:xfrm>
        </p:grpSpPr>
        <p:sp>
          <p:nvSpPr>
            <p:cNvPr id="81" name="正方形/長方形 42">
              <a:extLst>
                <a:ext uri="{FF2B5EF4-FFF2-40B4-BE49-F238E27FC236}">
                  <a16:creationId xmlns:a16="http://schemas.microsoft.com/office/drawing/2014/main" id="{DAC0FF6B-361F-4BF7-207D-AF2F8871EF3D}"/>
                </a:ext>
              </a:extLst>
            </p:cNvPr>
            <p:cNvSpPr/>
            <p:nvPr/>
          </p:nvSpPr>
          <p:spPr>
            <a:xfrm>
              <a:off x="1877531" y="5288168"/>
              <a:ext cx="304422" cy="189765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US" altLang="ja-JP" sz="120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2" name="正方形/長方形 42">
              <a:extLst>
                <a:ext uri="{FF2B5EF4-FFF2-40B4-BE49-F238E27FC236}">
                  <a16:creationId xmlns:a16="http://schemas.microsoft.com/office/drawing/2014/main" id="{FCBF5C2E-8F00-606D-72F9-FD088534D208}"/>
                </a:ext>
              </a:extLst>
            </p:cNvPr>
            <p:cNvSpPr/>
            <p:nvPr/>
          </p:nvSpPr>
          <p:spPr>
            <a:xfrm>
              <a:off x="1803629" y="5330133"/>
              <a:ext cx="73902" cy="105833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US" altLang="ja-JP" sz="1200" dirty="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3" name="正方形/長方形 33">
            <a:extLst>
              <a:ext uri="{FF2B5EF4-FFF2-40B4-BE49-F238E27FC236}">
                <a16:creationId xmlns:a16="http://schemas.microsoft.com/office/drawing/2014/main" id="{CBEF35E2-B8C2-4FF8-E4C0-1421E156DE17}"/>
              </a:ext>
            </a:extLst>
          </p:cNvPr>
          <p:cNvSpPr/>
          <p:nvPr/>
        </p:nvSpPr>
        <p:spPr>
          <a:xfrm>
            <a:off x="1768833" y="4622798"/>
            <a:ext cx="568851" cy="1308095"/>
          </a:xfrm>
          <a:prstGeom prst="rect">
            <a:avLst/>
          </a:prstGeom>
          <a:noFill/>
          <a:ln w="6350"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800" dirty="0">
                <a:solidFill>
                  <a:schemeClr val="dk1"/>
                </a:solidFill>
                <a:latin typeface="Arial"/>
                <a:ea typeface="ＭＳ Ｐゴシック"/>
              </a:rPr>
              <a:t>アナログ</a:t>
            </a:r>
            <a:endParaRPr lang="en-US" altLang="ja-JP" sz="800" dirty="0">
              <a:solidFill>
                <a:schemeClr val="dk1"/>
              </a:solidFill>
              <a:latin typeface="Arial"/>
              <a:ea typeface="ＭＳ Ｐゴシック"/>
            </a:endParaRPr>
          </a:p>
          <a:p>
            <a:pPr algn="ctr">
              <a:lnSpc>
                <a:spcPct val="100000"/>
              </a:lnSpc>
            </a:pPr>
            <a:r>
              <a:rPr lang="ja-JP" altLang="en-US" sz="8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分配器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4" name="直線コネクタ 46">
            <a:extLst>
              <a:ext uri="{FF2B5EF4-FFF2-40B4-BE49-F238E27FC236}">
                <a16:creationId xmlns:a16="http://schemas.microsoft.com/office/drawing/2014/main" id="{F46FBA7D-E715-E60E-8A09-E0381AF3A028}"/>
              </a:ext>
            </a:extLst>
          </p:cNvPr>
          <p:cNvCxnSpPr>
            <a:cxnSpLocks/>
          </p:cNvCxnSpPr>
          <p:nvPr/>
        </p:nvCxnSpPr>
        <p:spPr>
          <a:xfrm>
            <a:off x="1228365" y="4816286"/>
            <a:ext cx="540468" cy="0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cxnSp>
        <p:nvCxnSpPr>
          <p:cNvPr id="86" name="直線コネクタ 46">
            <a:extLst>
              <a:ext uri="{FF2B5EF4-FFF2-40B4-BE49-F238E27FC236}">
                <a16:creationId xmlns:a16="http://schemas.microsoft.com/office/drawing/2014/main" id="{853361D8-B2DA-5491-6C25-DE998FA54ABD}"/>
              </a:ext>
            </a:extLst>
          </p:cNvPr>
          <p:cNvCxnSpPr>
            <a:cxnSpLocks/>
          </p:cNvCxnSpPr>
          <p:nvPr/>
        </p:nvCxnSpPr>
        <p:spPr>
          <a:xfrm>
            <a:off x="1228365" y="5116897"/>
            <a:ext cx="540468" cy="0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cxnSp>
        <p:nvCxnSpPr>
          <p:cNvPr id="87" name="直線コネクタ 46">
            <a:extLst>
              <a:ext uri="{FF2B5EF4-FFF2-40B4-BE49-F238E27FC236}">
                <a16:creationId xmlns:a16="http://schemas.microsoft.com/office/drawing/2014/main" id="{134D95F0-B73F-0680-C9E8-C556A0646BFF}"/>
              </a:ext>
            </a:extLst>
          </p:cNvPr>
          <p:cNvCxnSpPr>
            <a:cxnSpLocks/>
          </p:cNvCxnSpPr>
          <p:nvPr/>
        </p:nvCxnSpPr>
        <p:spPr>
          <a:xfrm>
            <a:off x="1228365" y="5423824"/>
            <a:ext cx="540468" cy="0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cxnSp>
        <p:nvCxnSpPr>
          <p:cNvPr id="88" name="直線コネクタ 46">
            <a:extLst>
              <a:ext uri="{FF2B5EF4-FFF2-40B4-BE49-F238E27FC236}">
                <a16:creationId xmlns:a16="http://schemas.microsoft.com/office/drawing/2014/main" id="{22C57BC7-C549-0D1D-FD75-3F25C269A091}"/>
              </a:ext>
            </a:extLst>
          </p:cNvPr>
          <p:cNvCxnSpPr>
            <a:cxnSpLocks/>
          </p:cNvCxnSpPr>
          <p:nvPr/>
        </p:nvCxnSpPr>
        <p:spPr>
          <a:xfrm>
            <a:off x="1228365" y="5724353"/>
            <a:ext cx="540468" cy="0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sp>
        <p:nvSpPr>
          <p:cNvPr id="89" name="正方形/長方形 33">
            <a:extLst>
              <a:ext uri="{FF2B5EF4-FFF2-40B4-BE49-F238E27FC236}">
                <a16:creationId xmlns:a16="http://schemas.microsoft.com/office/drawing/2014/main" id="{E680F852-1ADA-2477-AF58-2F7E2BE7E802}"/>
              </a:ext>
            </a:extLst>
          </p:cNvPr>
          <p:cNvSpPr/>
          <p:nvPr/>
        </p:nvSpPr>
        <p:spPr>
          <a:xfrm>
            <a:off x="2878152" y="4622798"/>
            <a:ext cx="680339" cy="1308095"/>
          </a:xfrm>
          <a:prstGeom prst="rect">
            <a:avLst/>
          </a:prstGeom>
          <a:noFill/>
          <a:ln w="6350"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ビデオ</a:t>
            </a:r>
            <a:endParaRPr lang="en-US" altLang="ja-JP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ja-JP" altLang="en-US" sz="800" dirty="0">
                <a:solidFill>
                  <a:srgbClr val="000000"/>
                </a:solidFill>
                <a:latin typeface="Arial"/>
              </a:rPr>
              <a:t>エンコーダ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0" name="直線コネクタ 46">
            <a:extLst>
              <a:ext uri="{FF2B5EF4-FFF2-40B4-BE49-F238E27FC236}">
                <a16:creationId xmlns:a16="http://schemas.microsoft.com/office/drawing/2014/main" id="{AB0C799E-42B6-965E-E979-54C734678450}"/>
              </a:ext>
            </a:extLst>
          </p:cNvPr>
          <p:cNvCxnSpPr>
            <a:cxnSpLocks/>
          </p:cNvCxnSpPr>
          <p:nvPr/>
        </p:nvCxnSpPr>
        <p:spPr>
          <a:xfrm>
            <a:off x="2337684" y="5116897"/>
            <a:ext cx="540468" cy="0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cxnSp>
        <p:nvCxnSpPr>
          <p:cNvPr id="91" name="直線コネクタ 46">
            <a:extLst>
              <a:ext uri="{FF2B5EF4-FFF2-40B4-BE49-F238E27FC236}">
                <a16:creationId xmlns:a16="http://schemas.microsoft.com/office/drawing/2014/main" id="{A3276194-4D58-6ECF-2074-B132F64D9E99}"/>
              </a:ext>
            </a:extLst>
          </p:cNvPr>
          <p:cNvCxnSpPr>
            <a:cxnSpLocks/>
          </p:cNvCxnSpPr>
          <p:nvPr/>
        </p:nvCxnSpPr>
        <p:spPr>
          <a:xfrm>
            <a:off x="2337684" y="5423824"/>
            <a:ext cx="540468" cy="0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sp>
        <p:nvSpPr>
          <p:cNvPr id="92" name="正方形/長方形 33">
            <a:extLst>
              <a:ext uri="{FF2B5EF4-FFF2-40B4-BE49-F238E27FC236}">
                <a16:creationId xmlns:a16="http://schemas.microsoft.com/office/drawing/2014/main" id="{1B0D0D87-F512-0F09-562F-6C93C71A50A5}"/>
              </a:ext>
            </a:extLst>
          </p:cNvPr>
          <p:cNvSpPr/>
          <p:nvPr/>
        </p:nvSpPr>
        <p:spPr>
          <a:xfrm>
            <a:off x="3946592" y="4639670"/>
            <a:ext cx="680339" cy="424315"/>
          </a:xfrm>
          <a:prstGeom prst="rect">
            <a:avLst/>
          </a:prstGeom>
          <a:noFill/>
          <a:ln w="6350"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ja-JP" sz="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PoE</a:t>
            </a:r>
          </a:p>
          <a:p>
            <a:pPr algn="ctr">
              <a:lnSpc>
                <a:spcPct val="100000"/>
              </a:lnSpc>
            </a:pPr>
            <a:r>
              <a:rPr lang="en-US" sz="800" dirty="0">
                <a:solidFill>
                  <a:srgbClr val="000000"/>
                </a:solidFill>
                <a:latin typeface="Arial"/>
              </a:rPr>
              <a:t>HUB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3" name="直線コネクタ 46">
            <a:extLst>
              <a:ext uri="{FF2B5EF4-FFF2-40B4-BE49-F238E27FC236}">
                <a16:creationId xmlns:a16="http://schemas.microsoft.com/office/drawing/2014/main" id="{8E87F9A7-551E-41A4-81E6-8894618F6439}"/>
              </a:ext>
            </a:extLst>
          </p:cNvPr>
          <p:cNvCxnSpPr>
            <a:cxnSpLocks/>
          </p:cNvCxnSpPr>
          <p:nvPr/>
        </p:nvCxnSpPr>
        <p:spPr>
          <a:xfrm>
            <a:off x="3554843" y="4851828"/>
            <a:ext cx="391749" cy="0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cxnSp>
        <p:nvCxnSpPr>
          <p:cNvPr id="95" name="直線コネクタ 46">
            <a:extLst>
              <a:ext uri="{FF2B5EF4-FFF2-40B4-BE49-F238E27FC236}">
                <a16:creationId xmlns:a16="http://schemas.microsoft.com/office/drawing/2014/main" id="{57E5BA51-ECAC-2830-BFEE-332A95963222}"/>
              </a:ext>
            </a:extLst>
          </p:cNvPr>
          <p:cNvCxnSpPr>
            <a:cxnSpLocks/>
          </p:cNvCxnSpPr>
          <p:nvPr/>
        </p:nvCxnSpPr>
        <p:spPr>
          <a:xfrm>
            <a:off x="4626931" y="4712060"/>
            <a:ext cx="1686475" cy="0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cxnSp>
        <p:nvCxnSpPr>
          <p:cNvPr id="98" name="直線コネクタ 46">
            <a:extLst>
              <a:ext uri="{FF2B5EF4-FFF2-40B4-BE49-F238E27FC236}">
                <a16:creationId xmlns:a16="http://schemas.microsoft.com/office/drawing/2014/main" id="{19211175-8201-B1C9-6D61-F5F02B44F7BB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8138471" y="5217626"/>
            <a:ext cx="0" cy="238538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pic>
        <p:nvPicPr>
          <p:cNvPr id="101" name="図 31">
            <a:extLst>
              <a:ext uri="{FF2B5EF4-FFF2-40B4-BE49-F238E27FC236}">
                <a16:creationId xmlns:a16="http://schemas.microsoft.com/office/drawing/2014/main" id="{FD1D7D02-072D-D295-6673-5BF127231B07}"/>
              </a:ext>
            </a:extLst>
          </p:cNvPr>
          <p:cNvPicPr/>
          <p:nvPr/>
        </p:nvPicPr>
        <p:blipFill>
          <a:blip r:embed="rId12"/>
          <a:stretch/>
        </p:blipFill>
        <p:spPr>
          <a:xfrm>
            <a:off x="8835840" y="5644343"/>
            <a:ext cx="471600" cy="18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テキスト ボックス 32">
            <a:extLst>
              <a:ext uri="{FF2B5EF4-FFF2-40B4-BE49-F238E27FC236}">
                <a16:creationId xmlns:a16="http://schemas.microsoft.com/office/drawing/2014/main" id="{5104F32B-EB9B-04CD-B30C-3616078D3905}"/>
              </a:ext>
            </a:extLst>
          </p:cNvPr>
          <p:cNvSpPr/>
          <p:nvPr/>
        </p:nvSpPr>
        <p:spPr>
          <a:xfrm>
            <a:off x="8724600" y="5810303"/>
            <a:ext cx="691513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Edge PC</a:t>
            </a:r>
          </a:p>
          <a:p>
            <a:pPr algn="ctr">
              <a:lnSpc>
                <a:spcPct val="100000"/>
              </a:lnSpc>
            </a:pPr>
            <a:r>
              <a:rPr lang="en-US" sz="1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(</a:t>
            </a:r>
            <a:r>
              <a:rPr lang="ja-JP" altLang="en-US" sz="1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仮設</a:t>
            </a:r>
            <a:r>
              <a:rPr lang="en-US" altLang="ja-JP" sz="1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3" name="直線コネクタ 34">
            <a:extLst>
              <a:ext uri="{FF2B5EF4-FFF2-40B4-BE49-F238E27FC236}">
                <a16:creationId xmlns:a16="http://schemas.microsoft.com/office/drawing/2014/main" id="{B4FC2339-196B-6B3D-9EF9-6E8B18FA005D}"/>
              </a:ext>
            </a:extLst>
          </p:cNvPr>
          <p:cNvCxnSpPr/>
          <p:nvPr/>
        </p:nvCxnSpPr>
        <p:spPr>
          <a:xfrm>
            <a:off x="7463129" y="5732543"/>
            <a:ext cx="401760" cy="720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pic>
        <p:nvPicPr>
          <p:cNvPr id="104" name="図 63">
            <a:extLst>
              <a:ext uri="{FF2B5EF4-FFF2-40B4-BE49-F238E27FC236}">
                <a16:creationId xmlns:a16="http://schemas.microsoft.com/office/drawing/2014/main" id="{DB4C77A4-4542-07C9-627E-B1066E8DE40C}"/>
              </a:ext>
            </a:extLst>
          </p:cNvPr>
          <p:cNvPicPr/>
          <p:nvPr/>
        </p:nvPicPr>
        <p:blipFill>
          <a:blip r:embed="rId9"/>
          <a:stretch/>
        </p:blipFill>
        <p:spPr>
          <a:xfrm>
            <a:off x="5981922" y="3519978"/>
            <a:ext cx="626232" cy="464298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8" name="直線コネクタ 46">
            <a:extLst>
              <a:ext uri="{FF2B5EF4-FFF2-40B4-BE49-F238E27FC236}">
                <a16:creationId xmlns:a16="http://schemas.microsoft.com/office/drawing/2014/main" id="{E6D77724-815F-74E3-BBB1-07F5BC1D94DF}"/>
              </a:ext>
            </a:extLst>
          </p:cNvPr>
          <p:cNvCxnSpPr>
            <a:cxnSpLocks/>
          </p:cNvCxnSpPr>
          <p:nvPr/>
        </p:nvCxnSpPr>
        <p:spPr>
          <a:xfrm>
            <a:off x="6549784" y="3984276"/>
            <a:ext cx="0" cy="351924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</p:spTree>
    <p:extLst>
      <p:ext uri="{BB962C8B-B14F-4D97-AF65-F5344CB8AC3E}">
        <p14:creationId xmlns:p14="http://schemas.microsoft.com/office/powerpoint/2010/main" val="2800886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AA8D4-40EA-16C2-5904-F2A713ACB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956A4B0-146E-433E-B127-C0B825F818AE}"/>
              </a:ext>
            </a:extLst>
          </p:cNvPr>
          <p:cNvSpPr txBox="1"/>
          <p:nvPr/>
        </p:nvSpPr>
        <p:spPr>
          <a:xfrm>
            <a:off x="1327150" y="196850"/>
            <a:ext cx="2852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〇</a:t>
            </a:r>
            <a:r>
              <a:rPr kumimoji="1" lang="ja-JP" altLang="en-US" sz="2400" dirty="0"/>
              <a:t>月改造時点</a:t>
            </a:r>
            <a:r>
              <a:rPr kumimoji="1" lang="en-US" altLang="ja-JP" sz="2400" dirty="0"/>
              <a:t>(</a:t>
            </a:r>
            <a:r>
              <a:rPr lang="ja-JP" altLang="en-US" sz="2400" dirty="0"/>
              <a:t>本設</a:t>
            </a:r>
            <a:r>
              <a:rPr kumimoji="1" lang="en-US" altLang="ja-JP" sz="2400" dirty="0"/>
              <a:t>)</a:t>
            </a:r>
            <a:endParaRPr lang="en-US" altLang="ja-JP" sz="2400" dirty="0"/>
          </a:p>
        </p:txBody>
      </p:sp>
      <p:pic>
        <p:nvPicPr>
          <p:cNvPr id="6" name="Picture 2" descr="産業用ロボットイラスト｜無料イラスト・フリー素材なら「イラストAC」">
            <a:extLst>
              <a:ext uri="{FF2B5EF4-FFF2-40B4-BE49-F238E27FC236}">
                <a16:creationId xmlns:a16="http://schemas.microsoft.com/office/drawing/2014/main" id="{B69AB529-99B3-E9CE-FE85-2E0F33BB460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768833" y="1239699"/>
            <a:ext cx="521819" cy="57465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正方形/長方形 15">
            <a:extLst>
              <a:ext uri="{FF2B5EF4-FFF2-40B4-BE49-F238E27FC236}">
                <a16:creationId xmlns:a16="http://schemas.microsoft.com/office/drawing/2014/main" id="{1207C46A-EE6F-ADDB-EA1B-2C1EC84D29FD}"/>
              </a:ext>
            </a:extLst>
          </p:cNvPr>
          <p:cNvSpPr/>
          <p:nvPr/>
        </p:nvSpPr>
        <p:spPr>
          <a:xfrm>
            <a:off x="8884729" y="4924353"/>
            <a:ext cx="1167840" cy="245520"/>
          </a:xfrm>
          <a:prstGeom prst="rect">
            <a:avLst/>
          </a:prstGeom>
          <a:noFill/>
          <a:ln w="6350"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Fortigate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図 16">
            <a:extLst>
              <a:ext uri="{FF2B5EF4-FFF2-40B4-BE49-F238E27FC236}">
                <a16:creationId xmlns:a16="http://schemas.microsoft.com/office/drawing/2014/main" id="{8930BDB7-8613-6D18-FAF5-E67E05E34C89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15347" y="4791008"/>
            <a:ext cx="287280" cy="147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図 17">
            <a:extLst>
              <a:ext uri="{FF2B5EF4-FFF2-40B4-BE49-F238E27FC236}">
                <a16:creationId xmlns:a16="http://schemas.microsoft.com/office/drawing/2014/main" id="{9C4B1119-FA7D-4937-1C97-F299A3AC821E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0733467" y="4816568"/>
            <a:ext cx="281160" cy="4716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2" name="グループ化 19">
            <a:extLst>
              <a:ext uri="{FF2B5EF4-FFF2-40B4-BE49-F238E27FC236}">
                <a16:creationId xmlns:a16="http://schemas.microsoft.com/office/drawing/2014/main" id="{D3B3B066-91FC-A1E9-39D3-C7E928789EAD}"/>
              </a:ext>
            </a:extLst>
          </p:cNvPr>
          <p:cNvGrpSpPr/>
          <p:nvPr/>
        </p:nvGrpSpPr>
        <p:grpSpPr>
          <a:xfrm>
            <a:off x="7536960" y="1120320"/>
            <a:ext cx="1513080" cy="592200"/>
            <a:chOff x="7536960" y="1120320"/>
            <a:chExt cx="1513080" cy="592200"/>
          </a:xfrm>
        </p:grpSpPr>
        <p:pic>
          <p:nvPicPr>
            <p:cNvPr id="13" name="Picture 10" descr="Mantis">
              <a:extLst>
                <a:ext uri="{FF2B5EF4-FFF2-40B4-BE49-F238E27FC236}">
                  <a16:creationId xmlns:a16="http://schemas.microsoft.com/office/drawing/2014/main" id="{E12A41F1-ADBF-C257-0257-969ABB04D70A}"/>
                </a:ext>
              </a:extLst>
            </p:cNvPr>
            <p:cNvPicPr/>
            <p:nvPr/>
          </p:nvPicPr>
          <p:blipFill>
            <a:blip r:embed="rId5"/>
            <a:stretch/>
          </p:blipFill>
          <p:spPr>
            <a:xfrm>
              <a:off x="7536960" y="1370880"/>
              <a:ext cx="1513080" cy="341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" name="テキスト ボックス 21">
              <a:extLst>
                <a:ext uri="{FF2B5EF4-FFF2-40B4-BE49-F238E27FC236}">
                  <a16:creationId xmlns:a16="http://schemas.microsoft.com/office/drawing/2014/main" id="{E5F8A2DF-F52E-F211-74B8-001CBEF09722}"/>
                </a:ext>
              </a:extLst>
            </p:cNvPr>
            <p:cNvSpPr/>
            <p:nvPr/>
          </p:nvSpPr>
          <p:spPr>
            <a:xfrm>
              <a:off x="7536960" y="1120320"/>
              <a:ext cx="1174680" cy="27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Think Platform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5" name="直線コネクタ 22">
            <a:extLst>
              <a:ext uri="{FF2B5EF4-FFF2-40B4-BE49-F238E27FC236}">
                <a16:creationId xmlns:a16="http://schemas.microsoft.com/office/drawing/2014/main" id="{CEE15FBA-07DB-ADAB-46EB-3A10465CA3FE}"/>
              </a:ext>
            </a:extLst>
          </p:cNvPr>
          <p:cNvCxnSpPr>
            <a:cxnSpLocks/>
          </p:cNvCxnSpPr>
          <p:nvPr/>
        </p:nvCxnSpPr>
        <p:spPr>
          <a:xfrm>
            <a:off x="6355800" y="792720"/>
            <a:ext cx="0" cy="1860040"/>
          </a:xfrm>
          <a:prstGeom prst="straightConnector1">
            <a:avLst/>
          </a:prstGeom>
          <a:ln w="0">
            <a:solidFill>
              <a:srgbClr val="000000"/>
            </a:solidFill>
            <a:prstDash val="lgDashDot"/>
          </a:ln>
        </p:spPr>
      </p:cxnSp>
      <p:sp>
        <p:nvSpPr>
          <p:cNvPr id="18" name="テキスト ボックス 28">
            <a:extLst>
              <a:ext uri="{FF2B5EF4-FFF2-40B4-BE49-F238E27FC236}">
                <a16:creationId xmlns:a16="http://schemas.microsoft.com/office/drawing/2014/main" id="{47A6B23C-ED4C-9FD5-D691-CB05C26A1908}"/>
              </a:ext>
            </a:extLst>
          </p:cNvPr>
          <p:cNvSpPr/>
          <p:nvPr/>
        </p:nvSpPr>
        <p:spPr>
          <a:xfrm>
            <a:off x="6526440" y="757800"/>
            <a:ext cx="768960" cy="30708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ja-JP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クラウド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正方形/長方形 33">
            <a:extLst>
              <a:ext uri="{FF2B5EF4-FFF2-40B4-BE49-F238E27FC236}">
                <a16:creationId xmlns:a16="http://schemas.microsoft.com/office/drawing/2014/main" id="{00ABBB70-D521-8F5A-FB08-40CEAEFD2232}"/>
              </a:ext>
            </a:extLst>
          </p:cNvPr>
          <p:cNvSpPr/>
          <p:nvPr/>
        </p:nvSpPr>
        <p:spPr>
          <a:xfrm>
            <a:off x="7865181" y="5456164"/>
            <a:ext cx="546579" cy="882660"/>
          </a:xfrm>
          <a:prstGeom prst="rect">
            <a:avLst/>
          </a:prstGeom>
          <a:noFill/>
          <a:ln w="6350"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SW HUB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" name="直線コネクタ 38">
            <a:extLst>
              <a:ext uri="{FF2B5EF4-FFF2-40B4-BE49-F238E27FC236}">
                <a16:creationId xmlns:a16="http://schemas.microsoft.com/office/drawing/2014/main" id="{7DE7749A-A9BA-3A47-F645-1D65436F0683}"/>
              </a:ext>
            </a:extLst>
          </p:cNvPr>
          <p:cNvCxnSpPr>
            <a:cxnSpLocks/>
          </p:cNvCxnSpPr>
          <p:nvPr/>
        </p:nvCxnSpPr>
        <p:spPr>
          <a:xfrm>
            <a:off x="5341140" y="2652760"/>
            <a:ext cx="6577020" cy="0"/>
          </a:xfrm>
          <a:prstGeom prst="straightConnector1">
            <a:avLst/>
          </a:prstGeom>
          <a:ln w="0">
            <a:solidFill>
              <a:srgbClr val="000000"/>
            </a:solidFill>
            <a:prstDash val="lgDashDot"/>
          </a:ln>
        </p:spPr>
      </p:cxnSp>
      <p:sp>
        <p:nvSpPr>
          <p:cNvPr id="27" name="テキスト ボックス 40">
            <a:extLst>
              <a:ext uri="{FF2B5EF4-FFF2-40B4-BE49-F238E27FC236}">
                <a16:creationId xmlns:a16="http://schemas.microsoft.com/office/drawing/2014/main" id="{74A292F8-0635-4E00-CED5-760EFEBC41BC}"/>
              </a:ext>
            </a:extLst>
          </p:cNvPr>
          <p:cNvSpPr/>
          <p:nvPr/>
        </p:nvSpPr>
        <p:spPr>
          <a:xfrm>
            <a:off x="712440" y="751320"/>
            <a:ext cx="933518" cy="306323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ja-JP" sz="1400" dirty="0">
                <a:solidFill>
                  <a:schemeClr val="dk1"/>
                </a:solidFill>
                <a:latin typeface="Arial"/>
                <a:ea typeface="ＭＳ Ｐゴシック"/>
              </a:rPr>
              <a:t>2F </a:t>
            </a:r>
            <a:r>
              <a:rPr lang="ja-JP" altLang="en-US" sz="1400" dirty="0">
                <a:solidFill>
                  <a:schemeClr val="dk1"/>
                </a:solidFill>
                <a:latin typeface="Arial"/>
                <a:ea typeface="ＭＳ Ｐゴシック"/>
              </a:rPr>
              <a:t>炉前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" name="直線コネクタ 46">
            <a:extLst>
              <a:ext uri="{FF2B5EF4-FFF2-40B4-BE49-F238E27FC236}">
                <a16:creationId xmlns:a16="http://schemas.microsoft.com/office/drawing/2014/main" id="{A9322721-2351-047A-CB82-818D31D48D87}"/>
              </a:ext>
            </a:extLst>
          </p:cNvPr>
          <p:cNvCxnSpPr>
            <a:cxnSpLocks/>
            <a:endCxn id="57" idx="1"/>
          </p:cNvCxnSpPr>
          <p:nvPr/>
        </p:nvCxnSpPr>
        <p:spPr>
          <a:xfrm>
            <a:off x="2444919" y="1490186"/>
            <a:ext cx="1407490" cy="0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cxnSp>
        <p:nvCxnSpPr>
          <p:cNvPr id="29" name="直線コネクタ 47">
            <a:extLst>
              <a:ext uri="{FF2B5EF4-FFF2-40B4-BE49-F238E27FC236}">
                <a16:creationId xmlns:a16="http://schemas.microsoft.com/office/drawing/2014/main" id="{5A618FC0-982A-AD0D-0D2E-1831A0C573C8}"/>
              </a:ext>
            </a:extLst>
          </p:cNvPr>
          <p:cNvCxnSpPr>
            <a:cxnSpLocks/>
          </p:cNvCxnSpPr>
          <p:nvPr/>
        </p:nvCxnSpPr>
        <p:spPr>
          <a:xfrm flipV="1">
            <a:off x="4239390" y="2467246"/>
            <a:ext cx="0" cy="1284881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cxnSp>
        <p:nvCxnSpPr>
          <p:cNvPr id="30" name="直線コネクタ 48">
            <a:extLst>
              <a:ext uri="{FF2B5EF4-FFF2-40B4-BE49-F238E27FC236}">
                <a16:creationId xmlns:a16="http://schemas.microsoft.com/office/drawing/2014/main" id="{2F88D9E1-870F-2C0F-14E2-9351EBC55DEB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10052569" y="5047113"/>
            <a:ext cx="680898" cy="5255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cxnSp>
        <p:nvCxnSpPr>
          <p:cNvPr id="32" name="直線コネクタ 22">
            <a:extLst>
              <a:ext uri="{FF2B5EF4-FFF2-40B4-BE49-F238E27FC236}">
                <a16:creationId xmlns:a16="http://schemas.microsoft.com/office/drawing/2014/main" id="{520371A7-F3C7-EE23-C267-061A85F27162}"/>
              </a:ext>
            </a:extLst>
          </p:cNvPr>
          <p:cNvCxnSpPr>
            <a:cxnSpLocks/>
          </p:cNvCxnSpPr>
          <p:nvPr/>
        </p:nvCxnSpPr>
        <p:spPr>
          <a:xfrm flipH="1">
            <a:off x="5329980" y="2652760"/>
            <a:ext cx="14476" cy="3434120"/>
          </a:xfrm>
          <a:prstGeom prst="straightConnector1">
            <a:avLst/>
          </a:prstGeom>
          <a:ln w="0">
            <a:solidFill>
              <a:srgbClr val="000000"/>
            </a:solidFill>
            <a:prstDash val="lgDashDot"/>
          </a:ln>
        </p:spPr>
      </p:cxnSp>
      <p:sp>
        <p:nvSpPr>
          <p:cNvPr id="33" name="テキスト ボックス 1">
            <a:extLst>
              <a:ext uri="{FF2B5EF4-FFF2-40B4-BE49-F238E27FC236}">
                <a16:creationId xmlns:a16="http://schemas.microsoft.com/office/drawing/2014/main" id="{6649003B-2689-5264-7E7E-F54473BBE3D9}"/>
              </a:ext>
            </a:extLst>
          </p:cNvPr>
          <p:cNvSpPr/>
          <p:nvPr/>
        </p:nvSpPr>
        <p:spPr>
          <a:xfrm>
            <a:off x="5529348" y="2757474"/>
            <a:ext cx="2182186" cy="306323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5F </a:t>
            </a:r>
            <a:r>
              <a:rPr lang="ja-JP" alt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中央制御室</a:t>
            </a:r>
            <a:r>
              <a:rPr lang="en-US" altLang="ja-JP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/</a:t>
            </a:r>
            <a:r>
              <a:rPr lang="ja-JP" alt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電算機室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正方形/長方形 42">
            <a:extLst>
              <a:ext uri="{FF2B5EF4-FFF2-40B4-BE49-F238E27FC236}">
                <a16:creationId xmlns:a16="http://schemas.microsoft.com/office/drawing/2014/main" id="{DF0CDC06-75D7-1FF6-F135-AB7B483C5AC0}"/>
              </a:ext>
            </a:extLst>
          </p:cNvPr>
          <p:cNvSpPr/>
          <p:nvPr/>
        </p:nvSpPr>
        <p:spPr>
          <a:xfrm>
            <a:off x="5672167" y="3407487"/>
            <a:ext cx="1366686" cy="1858692"/>
          </a:xfrm>
          <a:prstGeom prst="rect">
            <a:avLst/>
          </a:prstGeom>
          <a:noFill/>
          <a:ln w="6350"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altLang="ja-JP" sz="1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正方形/長方形 33">
            <a:extLst>
              <a:ext uri="{FF2B5EF4-FFF2-40B4-BE49-F238E27FC236}">
                <a16:creationId xmlns:a16="http://schemas.microsoft.com/office/drawing/2014/main" id="{EC070855-E88B-8451-6568-7E6F28D387BE}"/>
              </a:ext>
            </a:extLst>
          </p:cNvPr>
          <p:cNvSpPr/>
          <p:nvPr/>
        </p:nvSpPr>
        <p:spPr>
          <a:xfrm>
            <a:off x="7766890" y="4427119"/>
            <a:ext cx="741722" cy="790508"/>
          </a:xfrm>
          <a:prstGeom prst="rect">
            <a:avLst/>
          </a:prstGeom>
          <a:noFill/>
          <a:ln w="6350"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ja-JP" sz="8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Fortigate</a:t>
            </a:r>
            <a:r>
              <a:rPr lang="ja-JP" altLang="en-US" sz="8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用</a:t>
            </a:r>
            <a:r>
              <a:rPr lang="en-US" altLang="ja-JP" sz="8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HUB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テキスト ボックス 32">
            <a:extLst>
              <a:ext uri="{FF2B5EF4-FFF2-40B4-BE49-F238E27FC236}">
                <a16:creationId xmlns:a16="http://schemas.microsoft.com/office/drawing/2014/main" id="{C333CD36-ABDD-8850-CBB8-99266DCE21FE}"/>
              </a:ext>
            </a:extLst>
          </p:cNvPr>
          <p:cNvSpPr/>
          <p:nvPr/>
        </p:nvSpPr>
        <p:spPr>
          <a:xfrm>
            <a:off x="5574274" y="3162719"/>
            <a:ext cx="1141957" cy="2447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ja-JP" altLang="en-US" sz="1000" dirty="0">
                <a:solidFill>
                  <a:schemeClr val="dk1"/>
                </a:solidFill>
                <a:latin typeface="Arial"/>
                <a:ea typeface="ＭＳ Ｐゴシック"/>
              </a:rPr>
              <a:t>中央制御盤</a:t>
            </a:r>
            <a:r>
              <a:rPr lang="en-US" altLang="ja-JP" sz="1000" dirty="0">
                <a:solidFill>
                  <a:schemeClr val="dk1"/>
                </a:solidFill>
                <a:latin typeface="Arial"/>
                <a:ea typeface="ＭＳ Ｐゴシック"/>
              </a:rPr>
              <a:t>(</a:t>
            </a:r>
            <a:r>
              <a:rPr lang="ja-JP" altLang="en-US" sz="1000" dirty="0">
                <a:solidFill>
                  <a:schemeClr val="dk1"/>
                </a:solidFill>
                <a:latin typeface="Arial"/>
                <a:ea typeface="ＭＳ Ｐゴシック"/>
              </a:rPr>
              <a:t>ロボ</a:t>
            </a:r>
            <a:r>
              <a:rPr lang="en-US" altLang="ja-JP" sz="1000" dirty="0">
                <a:solidFill>
                  <a:schemeClr val="dk1"/>
                </a:solidFill>
                <a:latin typeface="Arial"/>
                <a:ea typeface="ＭＳ Ｐゴシック"/>
              </a:rPr>
              <a:t>)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" name="直線コネクタ 46">
            <a:extLst>
              <a:ext uri="{FF2B5EF4-FFF2-40B4-BE49-F238E27FC236}">
                <a16:creationId xmlns:a16="http://schemas.microsoft.com/office/drawing/2014/main" id="{A0D2403A-2645-28BD-B8D2-3AFB9F74A5CF}"/>
              </a:ext>
            </a:extLst>
          </p:cNvPr>
          <p:cNvCxnSpPr>
            <a:cxnSpLocks/>
          </p:cNvCxnSpPr>
          <p:nvPr/>
        </p:nvCxnSpPr>
        <p:spPr>
          <a:xfrm>
            <a:off x="8509332" y="5048855"/>
            <a:ext cx="379669" cy="0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cxnSp>
        <p:nvCxnSpPr>
          <p:cNvPr id="40" name="直線コネクタ 46">
            <a:extLst>
              <a:ext uri="{FF2B5EF4-FFF2-40B4-BE49-F238E27FC236}">
                <a16:creationId xmlns:a16="http://schemas.microsoft.com/office/drawing/2014/main" id="{17ADEDC2-78DE-10CE-B79F-A20AC6B877DD}"/>
              </a:ext>
            </a:extLst>
          </p:cNvPr>
          <p:cNvCxnSpPr>
            <a:cxnSpLocks/>
            <a:endCxn id="104" idx="1"/>
          </p:cNvCxnSpPr>
          <p:nvPr/>
        </p:nvCxnSpPr>
        <p:spPr>
          <a:xfrm>
            <a:off x="4239390" y="3752127"/>
            <a:ext cx="1742532" cy="0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pic>
        <p:nvPicPr>
          <p:cNvPr id="48" name="Picture 4" descr="Grafana, Telegraf et InfluxDB : Surveillez l'état de vos serveurs - Odeven">
            <a:extLst>
              <a:ext uri="{FF2B5EF4-FFF2-40B4-BE49-F238E27FC236}">
                <a16:creationId xmlns:a16="http://schemas.microsoft.com/office/drawing/2014/main" id="{F92E39C4-82A4-495D-2F0B-CAA419997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9784" y="5989418"/>
            <a:ext cx="519726" cy="156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8" descr="Grafana#WindowsでGrafanaをインストールしよう |">
            <a:extLst>
              <a:ext uri="{FF2B5EF4-FFF2-40B4-BE49-F238E27FC236}">
                <a16:creationId xmlns:a16="http://schemas.microsoft.com/office/drawing/2014/main" id="{C9C7374E-7C07-2816-9BE0-448B04614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3984" y="6174667"/>
            <a:ext cx="471600" cy="23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12">
            <a:extLst>
              <a:ext uri="{FF2B5EF4-FFF2-40B4-BE49-F238E27FC236}">
                <a16:creationId xmlns:a16="http://schemas.microsoft.com/office/drawing/2014/main" id="{30947C7B-375D-12A0-C32B-34AD65210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1937" y="5601967"/>
            <a:ext cx="441169" cy="244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8D7B444C-6DE2-A29F-DB7D-E418B6E0C8E5}"/>
              </a:ext>
            </a:extLst>
          </p:cNvPr>
          <p:cNvGrpSpPr/>
          <p:nvPr/>
        </p:nvGrpSpPr>
        <p:grpSpPr>
          <a:xfrm>
            <a:off x="3663701" y="899600"/>
            <a:ext cx="2432299" cy="1567646"/>
            <a:chOff x="3629833" y="899600"/>
            <a:chExt cx="2432299" cy="1567646"/>
          </a:xfrm>
        </p:grpSpPr>
        <p:grpSp>
          <p:nvGrpSpPr>
            <p:cNvPr id="52" name="グループ化 51">
              <a:extLst>
                <a:ext uri="{FF2B5EF4-FFF2-40B4-BE49-F238E27FC236}">
                  <a16:creationId xmlns:a16="http://schemas.microsoft.com/office/drawing/2014/main" id="{E860369F-09AD-2CB3-AF81-6FC359B7AAEE}"/>
                </a:ext>
              </a:extLst>
            </p:cNvPr>
            <p:cNvGrpSpPr/>
            <p:nvPr/>
          </p:nvGrpSpPr>
          <p:grpSpPr>
            <a:xfrm>
              <a:off x="3629833" y="899600"/>
              <a:ext cx="2432299" cy="1567646"/>
              <a:chOff x="3940449" y="715756"/>
              <a:chExt cx="2432299" cy="1567646"/>
            </a:xfrm>
          </p:grpSpPr>
          <p:grpSp>
            <p:nvGrpSpPr>
              <p:cNvPr id="54" name="グループ化 53">
                <a:extLst>
                  <a:ext uri="{FF2B5EF4-FFF2-40B4-BE49-F238E27FC236}">
                    <a16:creationId xmlns:a16="http://schemas.microsoft.com/office/drawing/2014/main" id="{2F42547A-560B-E113-3A39-091A51651221}"/>
                  </a:ext>
                </a:extLst>
              </p:cNvPr>
              <p:cNvGrpSpPr/>
              <p:nvPr/>
            </p:nvGrpSpPr>
            <p:grpSpPr>
              <a:xfrm>
                <a:off x="3945780" y="986083"/>
                <a:ext cx="2426968" cy="1297319"/>
                <a:chOff x="3726763" y="691723"/>
                <a:chExt cx="2426968" cy="1297319"/>
              </a:xfrm>
            </p:grpSpPr>
            <p:sp>
              <p:nvSpPr>
                <p:cNvPr id="56" name="正方形/長方形 42">
                  <a:extLst>
                    <a:ext uri="{FF2B5EF4-FFF2-40B4-BE49-F238E27FC236}">
                      <a16:creationId xmlns:a16="http://schemas.microsoft.com/office/drawing/2014/main" id="{6BAE572A-F94F-30AF-8EE7-CDCA9E2D087B}"/>
                    </a:ext>
                  </a:extLst>
                </p:cNvPr>
                <p:cNvSpPr/>
                <p:nvPr/>
              </p:nvSpPr>
              <p:spPr>
                <a:xfrm>
                  <a:off x="3726763" y="691723"/>
                  <a:ext cx="2426968" cy="1297319"/>
                </a:xfrm>
                <a:prstGeom prst="rect">
                  <a:avLst/>
                </a:prstGeom>
                <a:noFill/>
                <a:ln w="6350">
                  <a:solidFill>
                    <a:srgbClr val="000000"/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endParaRPr lang="en-US" altLang="ja-JP" sz="1200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57" name="正方形/長方形 33">
                  <a:extLst>
                    <a:ext uri="{FF2B5EF4-FFF2-40B4-BE49-F238E27FC236}">
                      <a16:creationId xmlns:a16="http://schemas.microsoft.com/office/drawing/2014/main" id="{6195614E-591E-7C06-3A6C-F4AC2C33A393}"/>
                    </a:ext>
                  </a:extLst>
                </p:cNvPr>
                <p:cNvSpPr/>
                <p:nvPr/>
              </p:nvSpPr>
              <p:spPr>
                <a:xfrm>
                  <a:off x="3910140" y="790222"/>
                  <a:ext cx="818280" cy="443520"/>
                </a:xfrm>
                <a:prstGeom prst="rect">
                  <a:avLst/>
                </a:prstGeom>
                <a:noFill/>
                <a:ln w="6350">
                  <a:solidFill>
                    <a:srgbClr val="000000"/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sz="1200" b="0" u="none" strike="noStrike" dirty="0">
                      <a:solidFill>
                        <a:schemeClr val="dk1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HUB</a:t>
                  </a:r>
                  <a:endParaRPr lang="en-US" sz="1200" b="0" u="none" strike="noStrike" dirty="0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55" name="テキスト ボックス 32">
                <a:extLst>
                  <a:ext uri="{FF2B5EF4-FFF2-40B4-BE49-F238E27FC236}">
                    <a16:creationId xmlns:a16="http://schemas.microsoft.com/office/drawing/2014/main" id="{0FDD681B-C4F9-A570-F567-8BE454D03216}"/>
                  </a:ext>
                </a:extLst>
              </p:cNvPr>
              <p:cNvSpPr/>
              <p:nvPr/>
            </p:nvSpPr>
            <p:spPr>
              <a:xfrm>
                <a:off x="3940449" y="715756"/>
                <a:ext cx="1141957" cy="244767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t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ja-JP" altLang="en-US" sz="1000" b="0" u="none" strike="noStrike" dirty="0">
                    <a:solidFill>
                      <a:schemeClr val="dk1"/>
                    </a:solidFill>
                    <a:effectLst/>
                    <a:uFillTx/>
                    <a:latin typeface="Arial"/>
                    <a:ea typeface="ＭＳ Ｐゴシック"/>
                  </a:rPr>
                  <a:t>現場制御盤</a:t>
                </a:r>
                <a:r>
                  <a:rPr lang="en-US" altLang="ja-JP" sz="1000" b="0" u="none" strike="noStrike" dirty="0">
                    <a:solidFill>
                      <a:schemeClr val="dk1"/>
                    </a:solidFill>
                    <a:effectLst/>
                    <a:uFillTx/>
                    <a:latin typeface="Arial"/>
                    <a:ea typeface="ＭＳ Ｐゴシック"/>
                  </a:rPr>
                  <a:t>(</a:t>
                </a:r>
                <a:r>
                  <a:rPr lang="ja-JP" altLang="en-US" sz="1000" b="0" u="none" strike="noStrike" dirty="0">
                    <a:solidFill>
                      <a:schemeClr val="dk1"/>
                    </a:solidFill>
                    <a:effectLst/>
                    <a:uFillTx/>
                    <a:latin typeface="Arial"/>
                    <a:ea typeface="ＭＳ Ｐゴシック"/>
                  </a:rPr>
                  <a:t>ロボ</a:t>
                </a:r>
                <a:r>
                  <a:rPr lang="en-US" altLang="ja-JP" sz="1000" b="0" u="none" strike="noStrike" dirty="0">
                    <a:solidFill>
                      <a:schemeClr val="dk1"/>
                    </a:solidFill>
                    <a:effectLst/>
                    <a:uFillTx/>
                    <a:latin typeface="Arial"/>
                    <a:ea typeface="ＭＳ Ｐゴシック"/>
                  </a:rPr>
                  <a:t>)</a:t>
                </a:r>
                <a:endParaRPr lang="en-US" sz="10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53" name="図 63">
              <a:extLst>
                <a:ext uri="{FF2B5EF4-FFF2-40B4-BE49-F238E27FC236}">
                  <a16:creationId xmlns:a16="http://schemas.microsoft.com/office/drawing/2014/main" id="{4C224B2F-BB1F-2C22-1574-2875F1327DED}"/>
                </a:ext>
              </a:extLst>
            </p:cNvPr>
            <p:cNvPicPr/>
            <p:nvPr/>
          </p:nvPicPr>
          <p:blipFill>
            <a:blip r:embed="rId9"/>
            <a:stretch/>
          </p:blipFill>
          <p:spPr>
            <a:xfrm>
              <a:off x="3862908" y="1800468"/>
              <a:ext cx="709920" cy="60588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59" name="図 8">
            <a:extLst>
              <a:ext uri="{FF2B5EF4-FFF2-40B4-BE49-F238E27FC236}">
                <a16:creationId xmlns:a16="http://schemas.microsoft.com/office/drawing/2014/main" id="{8A49DA4B-4CDB-4134-242F-CDF54B53FAAF}"/>
              </a:ext>
            </a:extLst>
          </p:cNvPr>
          <p:cNvPicPr/>
          <p:nvPr/>
        </p:nvPicPr>
        <p:blipFill>
          <a:blip r:embed="rId10"/>
          <a:stretch/>
        </p:blipFill>
        <p:spPr>
          <a:xfrm>
            <a:off x="7111204" y="5299388"/>
            <a:ext cx="365040" cy="42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テキスト ボックス 9">
            <a:extLst>
              <a:ext uri="{FF2B5EF4-FFF2-40B4-BE49-F238E27FC236}">
                <a16:creationId xmlns:a16="http://schemas.microsoft.com/office/drawing/2014/main" id="{08564CD2-E87B-97EE-AA54-B300DFB53534}"/>
              </a:ext>
            </a:extLst>
          </p:cNvPr>
          <p:cNvSpPr/>
          <p:nvPr/>
        </p:nvSpPr>
        <p:spPr>
          <a:xfrm>
            <a:off x="7077120" y="5685373"/>
            <a:ext cx="446760" cy="24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NAS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Picture 4" descr="Grafana, Telegraf et InfluxDB : Surveillez l'état de vos serveurs - Odeven">
            <a:extLst>
              <a:ext uri="{FF2B5EF4-FFF2-40B4-BE49-F238E27FC236}">
                <a16:creationId xmlns:a16="http://schemas.microsoft.com/office/drawing/2014/main" id="{E4AE4A22-106F-3524-735C-9CC1CFD63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5570" y="1474728"/>
            <a:ext cx="813904" cy="244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8" descr="Grafana#WindowsでGrafanaをインストールしよう |">
            <a:extLst>
              <a:ext uri="{FF2B5EF4-FFF2-40B4-BE49-F238E27FC236}">
                <a16:creationId xmlns:a16="http://schemas.microsoft.com/office/drawing/2014/main" id="{2A308900-A783-0F9B-75C1-FD9453495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4461" y="1120320"/>
            <a:ext cx="620383" cy="310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6" descr="What is Azure Blob Storage and use cases of Azure Blob Storage? -  DevOpsSchool.com">
            <a:extLst>
              <a:ext uri="{FF2B5EF4-FFF2-40B4-BE49-F238E27FC236}">
                <a16:creationId xmlns:a16="http://schemas.microsoft.com/office/drawing/2014/main" id="{9B428479-17C7-3216-C461-C2F10B7E5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2642" y="1782980"/>
            <a:ext cx="868237" cy="402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5" name="直線コネクタ 46">
            <a:extLst>
              <a:ext uri="{FF2B5EF4-FFF2-40B4-BE49-F238E27FC236}">
                <a16:creationId xmlns:a16="http://schemas.microsoft.com/office/drawing/2014/main" id="{69AD53E0-A728-D791-5AE3-3ECCD81391FC}"/>
              </a:ext>
            </a:extLst>
          </p:cNvPr>
          <p:cNvCxnSpPr>
            <a:cxnSpLocks/>
          </p:cNvCxnSpPr>
          <p:nvPr/>
        </p:nvCxnSpPr>
        <p:spPr>
          <a:xfrm>
            <a:off x="6644167" y="4549140"/>
            <a:ext cx="1122723" cy="0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pic>
        <p:nvPicPr>
          <p:cNvPr id="66" name="図 8">
            <a:extLst>
              <a:ext uri="{FF2B5EF4-FFF2-40B4-BE49-F238E27FC236}">
                <a16:creationId xmlns:a16="http://schemas.microsoft.com/office/drawing/2014/main" id="{B8CF9D4F-846D-D83B-032F-9CB67EAA62ED}"/>
              </a:ext>
            </a:extLst>
          </p:cNvPr>
          <p:cNvPicPr/>
          <p:nvPr/>
        </p:nvPicPr>
        <p:blipFill>
          <a:blip r:embed="rId10"/>
          <a:stretch/>
        </p:blipFill>
        <p:spPr>
          <a:xfrm>
            <a:off x="6313406" y="4336200"/>
            <a:ext cx="365040" cy="42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テキスト ボックス 9">
            <a:extLst>
              <a:ext uri="{FF2B5EF4-FFF2-40B4-BE49-F238E27FC236}">
                <a16:creationId xmlns:a16="http://schemas.microsoft.com/office/drawing/2014/main" id="{6126A2CB-B967-B31F-F62A-485BCE4F16E4}"/>
              </a:ext>
            </a:extLst>
          </p:cNvPr>
          <p:cNvSpPr/>
          <p:nvPr/>
        </p:nvSpPr>
        <p:spPr>
          <a:xfrm>
            <a:off x="6133896" y="4751411"/>
            <a:ext cx="814943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8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ロボサーバ</a:t>
            </a:r>
            <a:r>
              <a:rPr lang="en-US" altLang="ja-JP" sz="8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PC</a:t>
            </a:r>
          </a:p>
          <a:p>
            <a:pPr algn="ctr">
              <a:lnSpc>
                <a:spcPct val="100000"/>
              </a:lnSpc>
            </a:pPr>
            <a:r>
              <a:rPr lang="en-US" sz="800" dirty="0">
                <a:solidFill>
                  <a:schemeClr val="dk1"/>
                </a:solidFill>
                <a:latin typeface="Arial"/>
                <a:ea typeface="ＭＳ Ｐゴシック"/>
              </a:rPr>
              <a:t>(</a:t>
            </a:r>
            <a:r>
              <a:rPr lang="en-US" sz="800" dirty="0" err="1">
                <a:solidFill>
                  <a:schemeClr val="dk1"/>
                </a:solidFill>
                <a:latin typeface="Arial"/>
                <a:ea typeface="ＭＳ Ｐゴシック"/>
              </a:rPr>
              <a:t>SoftGOT</a:t>
            </a:r>
            <a:r>
              <a:rPr lang="en-US" sz="800" dirty="0">
                <a:solidFill>
                  <a:schemeClr val="dk1"/>
                </a:solidFill>
                <a:latin typeface="Arial"/>
                <a:ea typeface="ＭＳ Ｐゴシック"/>
              </a:rPr>
              <a:t>)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" name="直線コネクタ 34">
            <a:extLst>
              <a:ext uri="{FF2B5EF4-FFF2-40B4-BE49-F238E27FC236}">
                <a16:creationId xmlns:a16="http://schemas.microsoft.com/office/drawing/2014/main" id="{E0AF431B-137B-54D1-FF1F-7547A5B42060}"/>
              </a:ext>
            </a:extLst>
          </p:cNvPr>
          <p:cNvCxnSpPr/>
          <p:nvPr/>
        </p:nvCxnSpPr>
        <p:spPr>
          <a:xfrm>
            <a:off x="8422920" y="5736846"/>
            <a:ext cx="401760" cy="720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6A8054D3-095B-D10B-5D92-1A37A43E2B4D}"/>
              </a:ext>
            </a:extLst>
          </p:cNvPr>
          <p:cNvGrpSpPr/>
          <p:nvPr/>
        </p:nvGrpSpPr>
        <p:grpSpPr>
          <a:xfrm>
            <a:off x="850041" y="5629470"/>
            <a:ext cx="378324" cy="189765"/>
            <a:chOff x="1803629" y="5288168"/>
            <a:chExt cx="378324" cy="189765"/>
          </a:xfrm>
        </p:grpSpPr>
        <p:sp>
          <p:nvSpPr>
            <p:cNvPr id="70" name="正方形/長方形 42">
              <a:extLst>
                <a:ext uri="{FF2B5EF4-FFF2-40B4-BE49-F238E27FC236}">
                  <a16:creationId xmlns:a16="http://schemas.microsoft.com/office/drawing/2014/main" id="{31B4ADF0-FE1D-4656-4E45-243A3454736A}"/>
                </a:ext>
              </a:extLst>
            </p:cNvPr>
            <p:cNvSpPr/>
            <p:nvPr/>
          </p:nvSpPr>
          <p:spPr>
            <a:xfrm>
              <a:off x="1877531" y="5288168"/>
              <a:ext cx="304422" cy="189765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US" altLang="ja-JP" sz="120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" name="正方形/長方形 42">
              <a:extLst>
                <a:ext uri="{FF2B5EF4-FFF2-40B4-BE49-F238E27FC236}">
                  <a16:creationId xmlns:a16="http://schemas.microsoft.com/office/drawing/2014/main" id="{73542834-B3A8-8042-732A-0CC2400D18BC}"/>
                </a:ext>
              </a:extLst>
            </p:cNvPr>
            <p:cNvSpPr/>
            <p:nvPr/>
          </p:nvSpPr>
          <p:spPr>
            <a:xfrm>
              <a:off x="1803629" y="5330133"/>
              <a:ext cx="73902" cy="105833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US" altLang="ja-JP" sz="1200" dirty="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3" name="テキスト ボックス 9">
            <a:extLst>
              <a:ext uri="{FF2B5EF4-FFF2-40B4-BE49-F238E27FC236}">
                <a16:creationId xmlns:a16="http://schemas.microsoft.com/office/drawing/2014/main" id="{1D8FBC03-7AC8-A2DB-4982-A46E2E481481}"/>
              </a:ext>
            </a:extLst>
          </p:cNvPr>
          <p:cNvSpPr/>
          <p:nvPr/>
        </p:nvSpPr>
        <p:spPr>
          <a:xfrm>
            <a:off x="751236" y="5861200"/>
            <a:ext cx="649835" cy="213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800" dirty="0">
                <a:solidFill>
                  <a:schemeClr val="dk1"/>
                </a:solidFill>
                <a:latin typeface="Arial"/>
                <a:ea typeface="ＭＳ Ｐゴシック"/>
              </a:rPr>
              <a:t>前炉用</a:t>
            </a:r>
            <a:r>
              <a:rPr lang="en-US" altLang="ja-JP" sz="800" dirty="0">
                <a:solidFill>
                  <a:schemeClr val="dk1"/>
                </a:solidFill>
                <a:latin typeface="Arial"/>
                <a:ea typeface="ＭＳ Ｐゴシック"/>
              </a:rPr>
              <a:t>ITV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4" name="グループ化 73">
            <a:extLst>
              <a:ext uri="{FF2B5EF4-FFF2-40B4-BE49-F238E27FC236}">
                <a16:creationId xmlns:a16="http://schemas.microsoft.com/office/drawing/2014/main" id="{47DE6BDC-07A9-7903-8DAE-A4AE833BC1F8}"/>
              </a:ext>
            </a:extLst>
          </p:cNvPr>
          <p:cNvGrpSpPr/>
          <p:nvPr/>
        </p:nvGrpSpPr>
        <p:grpSpPr>
          <a:xfrm>
            <a:off x="850041" y="5323840"/>
            <a:ext cx="378324" cy="189765"/>
            <a:chOff x="1803629" y="5288168"/>
            <a:chExt cx="378324" cy="189765"/>
          </a:xfrm>
        </p:grpSpPr>
        <p:sp>
          <p:nvSpPr>
            <p:cNvPr id="75" name="正方形/長方形 42">
              <a:extLst>
                <a:ext uri="{FF2B5EF4-FFF2-40B4-BE49-F238E27FC236}">
                  <a16:creationId xmlns:a16="http://schemas.microsoft.com/office/drawing/2014/main" id="{09882F14-9918-B0AD-CD9D-D7C911E2551A}"/>
                </a:ext>
              </a:extLst>
            </p:cNvPr>
            <p:cNvSpPr/>
            <p:nvPr/>
          </p:nvSpPr>
          <p:spPr>
            <a:xfrm>
              <a:off x="1877531" y="5288168"/>
              <a:ext cx="304422" cy="189765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US" altLang="ja-JP" sz="120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" name="正方形/長方形 42">
              <a:extLst>
                <a:ext uri="{FF2B5EF4-FFF2-40B4-BE49-F238E27FC236}">
                  <a16:creationId xmlns:a16="http://schemas.microsoft.com/office/drawing/2014/main" id="{FE670B32-4706-B7E4-5A4E-3CD78CC7AC43}"/>
                </a:ext>
              </a:extLst>
            </p:cNvPr>
            <p:cNvSpPr/>
            <p:nvPr/>
          </p:nvSpPr>
          <p:spPr>
            <a:xfrm>
              <a:off x="1803629" y="5330133"/>
              <a:ext cx="73902" cy="105833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US" altLang="ja-JP" sz="1200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D1D31A5C-37FD-F030-9FE4-7C62E0C71AB2}"/>
              </a:ext>
            </a:extLst>
          </p:cNvPr>
          <p:cNvGrpSpPr/>
          <p:nvPr/>
        </p:nvGrpSpPr>
        <p:grpSpPr>
          <a:xfrm>
            <a:off x="850041" y="5022020"/>
            <a:ext cx="378324" cy="189765"/>
            <a:chOff x="1803629" y="5288168"/>
            <a:chExt cx="378324" cy="189765"/>
          </a:xfrm>
        </p:grpSpPr>
        <p:sp>
          <p:nvSpPr>
            <p:cNvPr id="78" name="正方形/長方形 42">
              <a:extLst>
                <a:ext uri="{FF2B5EF4-FFF2-40B4-BE49-F238E27FC236}">
                  <a16:creationId xmlns:a16="http://schemas.microsoft.com/office/drawing/2014/main" id="{63C2E45C-6300-1265-39DC-C01614858CE4}"/>
                </a:ext>
              </a:extLst>
            </p:cNvPr>
            <p:cNvSpPr/>
            <p:nvPr/>
          </p:nvSpPr>
          <p:spPr>
            <a:xfrm>
              <a:off x="1877531" y="5288168"/>
              <a:ext cx="304422" cy="189765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US" altLang="ja-JP" sz="120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" name="正方形/長方形 42">
              <a:extLst>
                <a:ext uri="{FF2B5EF4-FFF2-40B4-BE49-F238E27FC236}">
                  <a16:creationId xmlns:a16="http://schemas.microsoft.com/office/drawing/2014/main" id="{569F4DDE-1E82-3754-BA57-B203066997D3}"/>
                </a:ext>
              </a:extLst>
            </p:cNvPr>
            <p:cNvSpPr/>
            <p:nvPr/>
          </p:nvSpPr>
          <p:spPr>
            <a:xfrm>
              <a:off x="1803629" y="5330133"/>
              <a:ext cx="73902" cy="105833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US" altLang="ja-JP" sz="1200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0" name="グループ化 79">
            <a:extLst>
              <a:ext uri="{FF2B5EF4-FFF2-40B4-BE49-F238E27FC236}">
                <a16:creationId xmlns:a16="http://schemas.microsoft.com/office/drawing/2014/main" id="{78F469BA-4FE3-6219-46D4-87BDB23514FC}"/>
              </a:ext>
            </a:extLst>
          </p:cNvPr>
          <p:cNvGrpSpPr/>
          <p:nvPr/>
        </p:nvGrpSpPr>
        <p:grpSpPr>
          <a:xfrm>
            <a:off x="850041" y="4721405"/>
            <a:ext cx="378324" cy="189765"/>
            <a:chOff x="1803629" y="5288168"/>
            <a:chExt cx="378324" cy="189765"/>
          </a:xfrm>
        </p:grpSpPr>
        <p:sp>
          <p:nvSpPr>
            <p:cNvPr id="81" name="正方形/長方形 42">
              <a:extLst>
                <a:ext uri="{FF2B5EF4-FFF2-40B4-BE49-F238E27FC236}">
                  <a16:creationId xmlns:a16="http://schemas.microsoft.com/office/drawing/2014/main" id="{DB818549-EEBD-C3E8-B893-4EB1DDED3ABA}"/>
                </a:ext>
              </a:extLst>
            </p:cNvPr>
            <p:cNvSpPr/>
            <p:nvPr/>
          </p:nvSpPr>
          <p:spPr>
            <a:xfrm>
              <a:off x="1877531" y="5288168"/>
              <a:ext cx="304422" cy="189765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US" altLang="ja-JP" sz="120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2" name="正方形/長方形 42">
              <a:extLst>
                <a:ext uri="{FF2B5EF4-FFF2-40B4-BE49-F238E27FC236}">
                  <a16:creationId xmlns:a16="http://schemas.microsoft.com/office/drawing/2014/main" id="{724C6941-192F-56ED-B1C5-A6FF603F30D3}"/>
                </a:ext>
              </a:extLst>
            </p:cNvPr>
            <p:cNvSpPr/>
            <p:nvPr/>
          </p:nvSpPr>
          <p:spPr>
            <a:xfrm>
              <a:off x="1803629" y="5330133"/>
              <a:ext cx="73902" cy="105833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US" altLang="ja-JP" sz="1200" dirty="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3" name="正方形/長方形 33">
            <a:extLst>
              <a:ext uri="{FF2B5EF4-FFF2-40B4-BE49-F238E27FC236}">
                <a16:creationId xmlns:a16="http://schemas.microsoft.com/office/drawing/2014/main" id="{4EAD40AE-60D1-30CF-1513-ACA3000295EA}"/>
              </a:ext>
            </a:extLst>
          </p:cNvPr>
          <p:cNvSpPr/>
          <p:nvPr/>
        </p:nvSpPr>
        <p:spPr>
          <a:xfrm>
            <a:off x="1768833" y="4622798"/>
            <a:ext cx="568851" cy="1308095"/>
          </a:xfrm>
          <a:prstGeom prst="rect">
            <a:avLst/>
          </a:prstGeom>
          <a:noFill/>
          <a:ln w="6350"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800" dirty="0">
                <a:solidFill>
                  <a:schemeClr val="dk1"/>
                </a:solidFill>
                <a:latin typeface="Arial"/>
                <a:ea typeface="ＭＳ Ｐゴシック"/>
              </a:rPr>
              <a:t>アナログ</a:t>
            </a:r>
            <a:endParaRPr lang="en-US" altLang="ja-JP" sz="800" dirty="0">
              <a:solidFill>
                <a:schemeClr val="dk1"/>
              </a:solidFill>
              <a:latin typeface="Arial"/>
              <a:ea typeface="ＭＳ Ｐゴシック"/>
            </a:endParaRPr>
          </a:p>
          <a:p>
            <a:pPr algn="ctr">
              <a:lnSpc>
                <a:spcPct val="100000"/>
              </a:lnSpc>
            </a:pPr>
            <a:r>
              <a:rPr lang="ja-JP" altLang="en-US" sz="8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分配器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4" name="直線コネクタ 46">
            <a:extLst>
              <a:ext uri="{FF2B5EF4-FFF2-40B4-BE49-F238E27FC236}">
                <a16:creationId xmlns:a16="http://schemas.microsoft.com/office/drawing/2014/main" id="{968E955A-B00D-0308-C42D-89A41A761981}"/>
              </a:ext>
            </a:extLst>
          </p:cNvPr>
          <p:cNvCxnSpPr>
            <a:cxnSpLocks/>
          </p:cNvCxnSpPr>
          <p:nvPr/>
        </p:nvCxnSpPr>
        <p:spPr>
          <a:xfrm>
            <a:off x="1228365" y="4816286"/>
            <a:ext cx="540468" cy="0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cxnSp>
        <p:nvCxnSpPr>
          <p:cNvPr id="86" name="直線コネクタ 46">
            <a:extLst>
              <a:ext uri="{FF2B5EF4-FFF2-40B4-BE49-F238E27FC236}">
                <a16:creationId xmlns:a16="http://schemas.microsoft.com/office/drawing/2014/main" id="{69A3C606-51B2-F14F-3A49-F46D06A351A8}"/>
              </a:ext>
            </a:extLst>
          </p:cNvPr>
          <p:cNvCxnSpPr>
            <a:cxnSpLocks/>
          </p:cNvCxnSpPr>
          <p:nvPr/>
        </p:nvCxnSpPr>
        <p:spPr>
          <a:xfrm>
            <a:off x="1228365" y="5116897"/>
            <a:ext cx="540468" cy="0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cxnSp>
        <p:nvCxnSpPr>
          <p:cNvPr id="87" name="直線コネクタ 46">
            <a:extLst>
              <a:ext uri="{FF2B5EF4-FFF2-40B4-BE49-F238E27FC236}">
                <a16:creationId xmlns:a16="http://schemas.microsoft.com/office/drawing/2014/main" id="{A7866FED-4C99-6A37-D95E-4F98C3A6CF35}"/>
              </a:ext>
            </a:extLst>
          </p:cNvPr>
          <p:cNvCxnSpPr>
            <a:cxnSpLocks/>
          </p:cNvCxnSpPr>
          <p:nvPr/>
        </p:nvCxnSpPr>
        <p:spPr>
          <a:xfrm>
            <a:off x="1228365" y="5423824"/>
            <a:ext cx="540468" cy="0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cxnSp>
        <p:nvCxnSpPr>
          <p:cNvPr id="88" name="直線コネクタ 46">
            <a:extLst>
              <a:ext uri="{FF2B5EF4-FFF2-40B4-BE49-F238E27FC236}">
                <a16:creationId xmlns:a16="http://schemas.microsoft.com/office/drawing/2014/main" id="{B23B8F56-D8A7-703C-8422-56570BECF2A9}"/>
              </a:ext>
            </a:extLst>
          </p:cNvPr>
          <p:cNvCxnSpPr>
            <a:cxnSpLocks/>
          </p:cNvCxnSpPr>
          <p:nvPr/>
        </p:nvCxnSpPr>
        <p:spPr>
          <a:xfrm>
            <a:off x="1228365" y="5724353"/>
            <a:ext cx="540468" cy="0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sp>
        <p:nvSpPr>
          <p:cNvPr id="89" name="正方形/長方形 33">
            <a:extLst>
              <a:ext uri="{FF2B5EF4-FFF2-40B4-BE49-F238E27FC236}">
                <a16:creationId xmlns:a16="http://schemas.microsoft.com/office/drawing/2014/main" id="{ACFFBC63-BB16-20AB-8195-79561A85AED7}"/>
              </a:ext>
            </a:extLst>
          </p:cNvPr>
          <p:cNvSpPr/>
          <p:nvPr/>
        </p:nvSpPr>
        <p:spPr>
          <a:xfrm>
            <a:off x="2878152" y="4622798"/>
            <a:ext cx="680339" cy="1308095"/>
          </a:xfrm>
          <a:prstGeom prst="rect">
            <a:avLst/>
          </a:prstGeom>
          <a:noFill/>
          <a:ln w="6350"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ビデオ</a:t>
            </a:r>
            <a:endParaRPr lang="en-US" altLang="ja-JP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ja-JP" altLang="en-US" sz="800" dirty="0">
                <a:solidFill>
                  <a:srgbClr val="000000"/>
                </a:solidFill>
                <a:latin typeface="Arial"/>
              </a:rPr>
              <a:t>エンコーダ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0" name="直線コネクタ 46">
            <a:extLst>
              <a:ext uri="{FF2B5EF4-FFF2-40B4-BE49-F238E27FC236}">
                <a16:creationId xmlns:a16="http://schemas.microsoft.com/office/drawing/2014/main" id="{0D3C2910-A793-87FE-3BC3-17EE6AA8CA51}"/>
              </a:ext>
            </a:extLst>
          </p:cNvPr>
          <p:cNvCxnSpPr>
            <a:cxnSpLocks/>
          </p:cNvCxnSpPr>
          <p:nvPr/>
        </p:nvCxnSpPr>
        <p:spPr>
          <a:xfrm>
            <a:off x="2337684" y="5116897"/>
            <a:ext cx="540468" cy="0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cxnSp>
        <p:nvCxnSpPr>
          <p:cNvPr id="91" name="直線コネクタ 46">
            <a:extLst>
              <a:ext uri="{FF2B5EF4-FFF2-40B4-BE49-F238E27FC236}">
                <a16:creationId xmlns:a16="http://schemas.microsoft.com/office/drawing/2014/main" id="{2543845F-6882-0FF1-3A93-845F017A95BE}"/>
              </a:ext>
            </a:extLst>
          </p:cNvPr>
          <p:cNvCxnSpPr>
            <a:cxnSpLocks/>
          </p:cNvCxnSpPr>
          <p:nvPr/>
        </p:nvCxnSpPr>
        <p:spPr>
          <a:xfrm>
            <a:off x="2337684" y="5423824"/>
            <a:ext cx="540468" cy="0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sp>
        <p:nvSpPr>
          <p:cNvPr id="92" name="正方形/長方形 33">
            <a:extLst>
              <a:ext uri="{FF2B5EF4-FFF2-40B4-BE49-F238E27FC236}">
                <a16:creationId xmlns:a16="http://schemas.microsoft.com/office/drawing/2014/main" id="{A22D1D32-4645-A862-2B88-82E7F7757ECE}"/>
              </a:ext>
            </a:extLst>
          </p:cNvPr>
          <p:cNvSpPr/>
          <p:nvPr/>
        </p:nvSpPr>
        <p:spPr>
          <a:xfrm>
            <a:off x="3946592" y="4639670"/>
            <a:ext cx="680339" cy="424315"/>
          </a:xfrm>
          <a:prstGeom prst="rect">
            <a:avLst/>
          </a:prstGeom>
          <a:noFill/>
          <a:ln w="6350"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ja-JP" sz="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PoE</a:t>
            </a:r>
          </a:p>
          <a:p>
            <a:pPr algn="ctr">
              <a:lnSpc>
                <a:spcPct val="100000"/>
              </a:lnSpc>
            </a:pPr>
            <a:r>
              <a:rPr lang="en-US" sz="800" dirty="0">
                <a:solidFill>
                  <a:srgbClr val="000000"/>
                </a:solidFill>
                <a:latin typeface="Arial"/>
              </a:rPr>
              <a:t>HUB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3" name="直線コネクタ 46">
            <a:extLst>
              <a:ext uri="{FF2B5EF4-FFF2-40B4-BE49-F238E27FC236}">
                <a16:creationId xmlns:a16="http://schemas.microsoft.com/office/drawing/2014/main" id="{865A7446-06A0-1CAB-82AF-C48563BBB016}"/>
              </a:ext>
            </a:extLst>
          </p:cNvPr>
          <p:cNvCxnSpPr>
            <a:cxnSpLocks/>
          </p:cNvCxnSpPr>
          <p:nvPr/>
        </p:nvCxnSpPr>
        <p:spPr>
          <a:xfrm>
            <a:off x="3554843" y="4851828"/>
            <a:ext cx="391749" cy="0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cxnSp>
        <p:nvCxnSpPr>
          <p:cNvPr id="95" name="直線コネクタ 46">
            <a:extLst>
              <a:ext uri="{FF2B5EF4-FFF2-40B4-BE49-F238E27FC236}">
                <a16:creationId xmlns:a16="http://schemas.microsoft.com/office/drawing/2014/main" id="{96A732CB-999D-BEC9-655B-5E40843B5762}"/>
              </a:ext>
            </a:extLst>
          </p:cNvPr>
          <p:cNvCxnSpPr>
            <a:cxnSpLocks/>
          </p:cNvCxnSpPr>
          <p:nvPr/>
        </p:nvCxnSpPr>
        <p:spPr>
          <a:xfrm>
            <a:off x="4626931" y="4712060"/>
            <a:ext cx="1686475" cy="0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cxnSp>
        <p:nvCxnSpPr>
          <p:cNvPr id="98" name="直線コネクタ 46">
            <a:extLst>
              <a:ext uri="{FF2B5EF4-FFF2-40B4-BE49-F238E27FC236}">
                <a16:creationId xmlns:a16="http://schemas.microsoft.com/office/drawing/2014/main" id="{A1EC36EF-7A5A-E225-B016-2D57A1E89785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8138471" y="5217626"/>
            <a:ext cx="0" cy="238538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pic>
        <p:nvPicPr>
          <p:cNvPr id="101" name="図 31">
            <a:extLst>
              <a:ext uri="{FF2B5EF4-FFF2-40B4-BE49-F238E27FC236}">
                <a16:creationId xmlns:a16="http://schemas.microsoft.com/office/drawing/2014/main" id="{2A28EB97-2409-61B7-19BC-DEDF80CE122A}"/>
              </a:ext>
            </a:extLst>
          </p:cNvPr>
          <p:cNvPicPr/>
          <p:nvPr/>
        </p:nvPicPr>
        <p:blipFill>
          <a:blip r:embed="rId12"/>
          <a:stretch/>
        </p:blipFill>
        <p:spPr>
          <a:xfrm>
            <a:off x="8835840" y="5644343"/>
            <a:ext cx="471600" cy="18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テキスト ボックス 32">
            <a:extLst>
              <a:ext uri="{FF2B5EF4-FFF2-40B4-BE49-F238E27FC236}">
                <a16:creationId xmlns:a16="http://schemas.microsoft.com/office/drawing/2014/main" id="{0A38EF86-7C92-6E8A-1585-556E44819D84}"/>
              </a:ext>
            </a:extLst>
          </p:cNvPr>
          <p:cNvSpPr/>
          <p:nvPr/>
        </p:nvSpPr>
        <p:spPr>
          <a:xfrm>
            <a:off x="8724600" y="5810303"/>
            <a:ext cx="691513" cy="2447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Edge PC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3" name="直線コネクタ 34">
            <a:extLst>
              <a:ext uri="{FF2B5EF4-FFF2-40B4-BE49-F238E27FC236}">
                <a16:creationId xmlns:a16="http://schemas.microsoft.com/office/drawing/2014/main" id="{85AA65ED-D4D5-0B84-40ED-68A2BDD7C3EB}"/>
              </a:ext>
            </a:extLst>
          </p:cNvPr>
          <p:cNvCxnSpPr/>
          <p:nvPr/>
        </p:nvCxnSpPr>
        <p:spPr>
          <a:xfrm>
            <a:off x="7463129" y="5532383"/>
            <a:ext cx="401760" cy="720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pic>
        <p:nvPicPr>
          <p:cNvPr id="104" name="図 63">
            <a:extLst>
              <a:ext uri="{FF2B5EF4-FFF2-40B4-BE49-F238E27FC236}">
                <a16:creationId xmlns:a16="http://schemas.microsoft.com/office/drawing/2014/main" id="{D16760A6-6C3A-077A-E414-94E3C0399564}"/>
              </a:ext>
            </a:extLst>
          </p:cNvPr>
          <p:cNvPicPr/>
          <p:nvPr/>
        </p:nvPicPr>
        <p:blipFill>
          <a:blip r:embed="rId9"/>
          <a:stretch/>
        </p:blipFill>
        <p:spPr>
          <a:xfrm>
            <a:off x="5981922" y="3519978"/>
            <a:ext cx="626232" cy="464298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8" name="直線コネクタ 46">
            <a:extLst>
              <a:ext uri="{FF2B5EF4-FFF2-40B4-BE49-F238E27FC236}">
                <a16:creationId xmlns:a16="http://schemas.microsoft.com/office/drawing/2014/main" id="{5B19F664-CA3C-EE2B-6AF0-F8A6E6240851}"/>
              </a:ext>
            </a:extLst>
          </p:cNvPr>
          <p:cNvCxnSpPr>
            <a:cxnSpLocks/>
          </p:cNvCxnSpPr>
          <p:nvPr/>
        </p:nvCxnSpPr>
        <p:spPr>
          <a:xfrm>
            <a:off x="6549784" y="3984276"/>
            <a:ext cx="0" cy="351924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  <p:pic>
        <p:nvPicPr>
          <p:cNvPr id="3" name="図 8">
            <a:extLst>
              <a:ext uri="{FF2B5EF4-FFF2-40B4-BE49-F238E27FC236}">
                <a16:creationId xmlns:a16="http://schemas.microsoft.com/office/drawing/2014/main" id="{25ABCAA2-BF91-3FFF-2174-27EF7EA5260B}"/>
              </a:ext>
            </a:extLst>
          </p:cNvPr>
          <p:cNvPicPr/>
          <p:nvPr/>
        </p:nvPicPr>
        <p:blipFill>
          <a:blip r:embed="rId10"/>
          <a:stretch/>
        </p:blipFill>
        <p:spPr>
          <a:xfrm>
            <a:off x="7117980" y="5952839"/>
            <a:ext cx="365040" cy="42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テキスト ボックス 9">
            <a:extLst>
              <a:ext uri="{FF2B5EF4-FFF2-40B4-BE49-F238E27FC236}">
                <a16:creationId xmlns:a16="http://schemas.microsoft.com/office/drawing/2014/main" id="{ACC9E7E7-43C7-640F-9D99-0381F530AF4D}"/>
              </a:ext>
            </a:extLst>
          </p:cNvPr>
          <p:cNvSpPr/>
          <p:nvPr/>
        </p:nvSpPr>
        <p:spPr>
          <a:xfrm>
            <a:off x="6979226" y="6357899"/>
            <a:ext cx="628995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8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サーバ</a:t>
            </a:r>
            <a:r>
              <a:rPr lang="en-US" altLang="ja-JP" sz="8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PC</a:t>
            </a:r>
          </a:p>
          <a:p>
            <a:pPr algn="ctr">
              <a:lnSpc>
                <a:spcPct val="100000"/>
              </a:lnSpc>
            </a:pPr>
            <a:r>
              <a:rPr lang="en-US" sz="800" dirty="0">
                <a:solidFill>
                  <a:schemeClr val="dk1"/>
                </a:solidFill>
                <a:latin typeface="Arial"/>
                <a:ea typeface="ＭＳ Ｐゴシック"/>
              </a:rPr>
              <a:t>(Linux)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" name="直線コネクタ 34">
            <a:extLst>
              <a:ext uri="{FF2B5EF4-FFF2-40B4-BE49-F238E27FC236}">
                <a16:creationId xmlns:a16="http://schemas.microsoft.com/office/drawing/2014/main" id="{3E10DFC4-A84D-3427-4BD8-E9B95E83EFD8}"/>
              </a:ext>
            </a:extLst>
          </p:cNvPr>
          <p:cNvCxnSpPr/>
          <p:nvPr/>
        </p:nvCxnSpPr>
        <p:spPr>
          <a:xfrm>
            <a:off x="7469905" y="6185834"/>
            <a:ext cx="401760" cy="720"/>
          </a:xfrm>
          <a:prstGeom prst="straightConnector1">
            <a:avLst/>
          </a:prstGeom>
          <a:ln w="0">
            <a:solidFill>
              <a:srgbClr val="000000"/>
            </a:solidFill>
            <a:prstDash val="sysDash"/>
          </a:ln>
        </p:spPr>
      </p:cxnSp>
    </p:spTree>
    <p:extLst>
      <p:ext uri="{BB962C8B-B14F-4D97-AF65-F5344CB8AC3E}">
        <p14:creationId xmlns:p14="http://schemas.microsoft.com/office/powerpoint/2010/main" val="269168646"/>
      </p:ext>
    </p:extLst>
  </p:cSld>
  <p:clrMapOvr>
    <a:masterClrMapping/>
  </p:clrMapOvr>
</p:sld>
</file>

<file path=ppt/theme/theme1.xml><?xml version="1.0" encoding="utf-8"?>
<a:theme xmlns:a="http://schemas.openxmlformats.org/drawingml/2006/main" name="1_デザインの設定">
  <a:themeElements>
    <a:clrScheme name="1_デザインの設定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デザインの設定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デザインの設定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デザインの設定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デザインの設定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デザインの設定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デザインの設定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デザインの設定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デザインの設定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デザインの設定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デザインの設定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デザインの設定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デザインの設定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デザインの設定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パワーポイントフォーマット（b）タイプ_20200201.ppt[読み取り専用] [互換モード]" id="{6D2C23F4-11F7-4D7F-AF76-34F638F87C2F}" vid="{A279EFF6-AA8A-4D72-AF83-7BA396CA4B76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17509</TotalTime>
  <Words>138</Words>
  <Application>Microsoft Office PowerPoint</Application>
  <PresentationFormat>ワイド画面</PresentationFormat>
  <Paragraphs>56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6" baseType="lpstr">
      <vt:lpstr>游ゴシック</vt:lpstr>
      <vt:lpstr>Arial</vt:lpstr>
      <vt:lpstr>1_デザインの設定</vt:lpstr>
      <vt:lpstr>PowerPoint プレゼンテーション</vt:lpstr>
      <vt:lpstr>PowerPoint プレゼンテーション</vt:lpstr>
      <vt:lpstr>PowerPoint プレゼンテーション</vt:lpstr>
    </vt:vector>
  </TitlesOfParts>
  <Company>新日鉄住金エンジニアリング株式会社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tokugawa.akihiro.qp5@eng.nipponsteel.com</dc:creator>
  <cp:lastModifiedBy>松山 敬太</cp:lastModifiedBy>
  <cp:revision>2870</cp:revision>
  <cp:lastPrinted>2022-04-05T01:37:17Z</cp:lastPrinted>
  <dcterms:created xsi:type="dcterms:W3CDTF">2020-04-17T00:08:19Z</dcterms:created>
  <dcterms:modified xsi:type="dcterms:W3CDTF">2025-12-22T10:30:40Z</dcterms:modified>
</cp:coreProperties>
</file>